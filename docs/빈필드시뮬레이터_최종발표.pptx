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be9c3d50-261b-6b18-05f2-c60bdd73a2b1}">
          <p14:sldIdLst>
            <p14:sldId id="256"/>
            <p14:sldId id="257"/>
            <p14:sldId id="258"/>
            <p14:sldId id="259"/>
          </p14:sldIdLst>
        </p14:section>
        <p14:section name="고객 정의" id="{c6f18c84-4416-de9b-04da-fd7a259cb6fb}">
          <p14:sldIdLst>
            <p14:sldId id="260"/>
            <p14:sldId id="261"/>
          </p14:sldIdLst>
        </p14:section>
        <p14:section name="가치제안 캔버스" id="{3a671c22-9cc1-5a3c-46ed-c2d95b5d3930}">
          <p14:sldIdLst>
            <p14:sldId id="262"/>
            <p14:sldId id="263"/>
            <p14:sldId id="264"/>
            <p14:sldId id="265"/>
          </p14:sldIdLst>
        </p14:section>
        <p14:section name="가설 검증" id="{028fa026-0d1f-987f-e003-c30fca7688ae}">
          <p14:sldIdLst>
            <p14:sldId id="266"/>
            <p14:sldId id="267"/>
            <p14:sldId id="268"/>
          </p14:sldIdLst>
        </p14:section>
        <p14:section name="MVP" id="{320324a2-120e-dbfe-c8a3-74f195dc4abd}">
          <p14:sldIdLst>
            <p14:sldId id="269"/>
            <p14:sldId id="270"/>
          </p14:sldIdLst>
        </p14:section>
        <p14:section name="비즈니스 모델과 다음 단계" id="{6995cd3a-abb8-98df-1339-a164ba9ead7b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빈 필드 시뮬레이터 · 2026 실험실창업탐색교육 최종발표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행사 라벨"/>
          <p:cNvSpPr/>
          <p:nvPr/>
        </p:nvSpPr>
        <p:spPr>
          <a:xfrm>
            <a:off x="731520" y="1097280"/>
            <a:ext cx="3291840" cy="310896"/>
          </a:xfrm>
          <a:prstGeom prst="roundRect">
            <a:avLst>
              <a:gd name="adj" fmla="val 1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2026 실험실창업탐색교육 · 최종발표</a:t>
            </a:r>
            <a:endParaRPr lang="en-US" sz="1200" dirty="0"/>
          </a:p>
        </p:txBody>
      </p:sp>
      <p:sp>
        <p:nvSpPr>
          <p:cNvPr id="3" name="제목"/>
          <p:cNvSpPr txBox="1"/>
          <p:nvPr/>
        </p:nvSpPr>
        <p:spPr>
          <a:xfrm>
            <a:off x="731520" y="16916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chemeClr val="bg1"/>
                </a:solidFill>
                <a:latin typeface="Freesentation 8 ExtraBold" pitchFamily="34" charset="0"/>
                <a:ea typeface="Freesentation 8 ExtraBold" pitchFamily="34" charset="-122"/>
                <a:cs typeface="Freesentation 8 ExtraBold" pitchFamily="34" charset="-120"/>
              </a:rPr>
              <a:t>빈 필드 시뮬레이터</a:t>
            </a:r>
            <a:endParaRPr lang="en-US" sz="5200" dirty="0"/>
          </a:p>
        </p:txBody>
      </p:sp>
      <p:sp>
        <p:nvSpPr>
          <p:cNvPr id="4" name="부제"/>
          <p:cNvSpPr txBox="1"/>
          <p:nvPr/>
        </p:nvSpPr>
        <p:spPr>
          <a:xfrm>
            <a:off x="731520" y="27432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농가 한 곳이 참여를 거절해도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공동영농이 흔들리지 않도록</a:t>
            </a:r>
            <a:endParaRPr lang="en-US" sz="2400" dirty="0"/>
          </a:p>
        </p:txBody>
      </p:sp>
      <p:sp>
        <p:nvSpPr>
          <p:cNvPr id="5" name="아이템 정보"/>
          <p:cNvSpPr txBox="1"/>
          <p:nvPr/>
        </p:nvSpPr>
        <p:spPr>
          <a:xfrm>
            <a:off x="731520" y="39776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Empty Field Simulator  ·  B2B (공동영농 법인) / B2G (시·군, 농어촌공사)</a:t>
            </a:r>
            <a:endParaRPr lang="en-US" sz="1400" dirty="0"/>
          </a:p>
        </p:txBody>
      </p:sp>
      <p:sp>
        <p:nvSpPr>
          <p:cNvPr id="6" name="팀 정보"/>
          <p:cNvSpPr txBox="1"/>
          <p:nvPr/>
        </p:nvSpPr>
        <p:spPr>
          <a:xfrm>
            <a:off x="731520" y="53949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팀명  ( 기입 )      EL / EM  ( 성명 · 학교 · 전공 기입 )</a:t>
            </a:r>
            <a:endParaRPr lang="en-US" sz="1400" dirty="0"/>
          </a:p>
        </p:txBody>
      </p:sp>
      <p:sp>
        <p:nvSpPr>
          <p:cNvPr id="7" name="필지 0-0"/>
          <p:cNvSpPr/>
          <p:nvPr/>
        </p:nvSpPr>
        <p:spPr>
          <a:xfrm>
            <a:off x="7726680" y="1097280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8" name="필지 0-1"/>
          <p:cNvSpPr/>
          <p:nvPr/>
        </p:nvSpPr>
        <p:spPr>
          <a:xfrm>
            <a:off x="8220456" y="1097280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9" name="필지 0-2"/>
          <p:cNvSpPr/>
          <p:nvPr/>
        </p:nvSpPr>
        <p:spPr>
          <a:xfrm>
            <a:off x="8714232" y="1097280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10" name="필지 0-3"/>
          <p:cNvSpPr/>
          <p:nvPr/>
        </p:nvSpPr>
        <p:spPr>
          <a:xfrm>
            <a:off x="9208008" y="1097280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11" name="필지 0-4"/>
          <p:cNvSpPr/>
          <p:nvPr/>
        </p:nvSpPr>
        <p:spPr>
          <a:xfrm>
            <a:off x="9701784" y="1097280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12" name="필지 0-5"/>
          <p:cNvSpPr/>
          <p:nvPr/>
        </p:nvSpPr>
        <p:spPr>
          <a:xfrm>
            <a:off x="10195560" y="1097280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13" name="필지 0-6"/>
          <p:cNvSpPr/>
          <p:nvPr/>
        </p:nvSpPr>
        <p:spPr>
          <a:xfrm>
            <a:off x="10689336" y="1097280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14" name="필지 0-7"/>
          <p:cNvSpPr/>
          <p:nvPr/>
        </p:nvSpPr>
        <p:spPr>
          <a:xfrm>
            <a:off x="11183112" y="1097280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15" name="필지 1-0"/>
          <p:cNvSpPr/>
          <p:nvPr/>
        </p:nvSpPr>
        <p:spPr>
          <a:xfrm>
            <a:off x="7726680" y="1591056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16" name="필지 1-1"/>
          <p:cNvSpPr/>
          <p:nvPr/>
        </p:nvSpPr>
        <p:spPr>
          <a:xfrm>
            <a:off x="8220456" y="1591056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17" name="필지 1-2"/>
          <p:cNvSpPr/>
          <p:nvPr/>
        </p:nvSpPr>
        <p:spPr>
          <a:xfrm>
            <a:off x="8714232" y="1591056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18" name="필지 1-3"/>
          <p:cNvSpPr/>
          <p:nvPr/>
        </p:nvSpPr>
        <p:spPr>
          <a:xfrm>
            <a:off x="9208008" y="1591056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19" name="필지 1-4"/>
          <p:cNvSpPr/>
          <p:nvPr/>
        </p:nvSpPr>
        <p:spPr>
          <a:xfrm>
            <a:off x="9701784" y="1591056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20" name="필지 1-5"/>
          <p:cNvSpPr/>
          <p:nvPr/>
        </p:nvSpPr>
        <p:spPr>
          <a:xfrm>
            <a:off x="10195560" y="1591056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21" name="필지 1-6"/>
          <p:cNvSpPr/>
          <p:nvPr/>
        </p:nvSpPr>
        <p:spPr>
          <a:xfrm>
            <a:off x="10689336" y="1591056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22" name="필지 1-7"/>
          <p:cNvSpPr/>
          <p:nvPr/>
        </p:nvSpPr>
        <p:spPr>
          <a:xfrm>
            <a:off x="11183112" y="1591056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23" name="필지 2-0"/>
          <p:cNvSpPr/>
          <p:nvPr/>
        </p:nvSpPr>
        <p:spPr>
          <a:xfrm>
            <a:off x="7726680" y="2084832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24" name="필지 2-1"/>
          <p:cNvSpPr/>
          <p:nvPr/>
        </p:nvSpPr>
        <p:spPr>
          <a:xfrm>
            <a:off x="8220456" y="2084832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25" name="필지 2-2"/>
          <p:cNvSpPr/>
          <p:nvPr/>
        </p:nvSpPr>
        <p:spPr>
          <a:xfrm>
            <a:off x="8714232" y="2084832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26" name="필지 2-3"/>
          <p:cNvSpPr/>
          <p:nvPr/>
        </p:nvSpPr>
        <p:spPr>
          <a:xfrm>
            <a:off x="9208008" y="2084832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27" name="필지 2-4"/>
          <p:cNvSpPr/>
          <p:nvPr/>
        </p:nvSpPr>
        <p:spPr>
          <a:xfrm>
            <a:off x="9701784" y="2084832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28" name="필지 2-5"/>
          <p:cNvSpPr/>
          <p:nvPr/>
        </p:nvSpPr>
        <p:spPr>
          <a:xfrm>
            <a:off x="10195560" y="2084832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29" name="필지 2-6"/>
          <p:cNvSpPr/>
          <p:nvPr/>
        </p:nvSpPr>
        <p:spPr>
          <a:xfrm>
            <a:off x="10689336" y="2084832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30" name="필지 2-7"/>
          <p:cNvSpPr/>
          <p:nvPr/>
        </p:nvSpPr>
        <p:spPr>
          <a:xfrm>
            <a:off x="11183112" y="2084832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31" name="필지 3-0"/>
          <p:cNvSpPr/>
          <p:nvPr/>
        </p:nvSpPr>
        <p:spPr>
          <a:xfrm>
            <a:off x="7726680" y="2578608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32" name="필지 3-1"/>
          <p:cNvSpPr/>
          <p:nvPr/>
        </p:nvSpPr>
        <p:spPr>
          <a:xfrm>
            <a:off x="8220456" y="2578608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33" name="필지 3-2"/>
          <p:cNvSpPr/>
          <p:nvPr/>
        </p:nvSpPr>
        <p:spPr>
          <a:xfrm>
            <a:off x="8714232" y="2578608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34" name="필지 3-3"/>
          <p:cNvSpPr/>
          <p:nvPr/>
        </p:nvSpPr>
        <p:spPr>
          <a:xfrm>
            <a:off x="9208008" y="2578608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3"/>
          </a:solidFill>
          <a:ln/>
        </p:spPr>
      </p:sp>
      <p:sp>
        <p:nvSpPr>
          <p:cNvPr id="35" name="필지 3-4"/>
          <p:cNvSpPr/>
          <p:nvPr/>
        </p:nvSpPr>
        <p:spPr>
          <a:xfrm>
            <a:off x="9701784" y="2578608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3"/>
          </a:solidFill>
          <a:ln/>
        </p:spPr>
      </p:sp>
      <p:sp>
        <p:nvSpPr>
          <p:cNvPr id="36" name="필지 3-5"/>
          <p:cNvSpPr/>
          <p:nvPr/>
        </p:nvSpPr>
        <p:spPr>
          <a:xfrm>
            <a:off x="10195560" y="2578608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37" name="필지 3-6"/>
          <p:cNvSpPr/>
          <p:nvPr/>
        </p:nvSpPr>
        <p:spPr>
          <a:xfrm>
            <a:off x="10689336" y="2578608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38" name="필지 3-7"/>
          <p:cNvSpPr/>
          <p:nvPr/>
        </p:nvSpPr>
        <p:spPr>
          <a:xfrm>
            <a:off x="11183112" y="2578608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39" name="필지 4-0"/>
          <p:cNvSpPr/>
          <p:nvPr/>
        </p:nvSpPr>
        <p:spPr>
          <a:xfrm>
            <a:off x="7726680" y="3072384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40" name="필지 4-1"/>
          <p:cNvSpPr/>
          <p:nvPr/>
        </p:nvSpPr>
        <p:spPr>
          <a:xfrm>
            <a:off x="8220456" y="3072384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41" name="필지 4-2"/>
          <p:cNvSpPr/>
          <p:nvPr/>
        </p:nvSpPr>
        <p:spPr>
          <a:xfrm>
            <a:off x="8714232" y="3072384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42" name="필지 4-3"/>
          <p:cNvSpPr/>
          <p:nvPr/>
        </p:nvSpPr>
        <p:spPr>
          <a:xfrm>
            <a:off x="9208008" y="3072384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43" name="필지 4-4"/>
          <p:cNvSpPr/>
          <p:nvPr/>
        </p:nvSpPr>
        <p:spPr>
          <a:xfrm>
            <a:off x="9701784" y="3072384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44" name="필지 4-5"/>
          <p:cNvSpPr/>
          <p:nvPr/>
        </p:nvSpPr>
        <p:spPr>
          <a:xfrm>
            <a:off x="10195560" y="3072384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45" name="필지 4-6"/>
          <p:cNvSpPr/>
          <p:nvPr/>
        </p:nvSpPr>
        <p:spPr>
          <a:xfrm>
            <a:off x="10689336" y="3072384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46" name="필지 4-7"/>
          <p:cNvSpPr/>
          <p:nvPr/>
        </p:nvSpPr>
        <p:spPr>
          <a:xfrm>
            <a:off x="11183112" y="3072384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47" name="필지 5-0"/>
          <p:cNvSpPr/>
          <p:nvPr/>
        </p:nvSpPr>
        <p:spPr>
          <a:xfrm>
            <a:off x="7726680" y="3566160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48" name="필지 5-1"/>
          <p:cNvSpPr/>
          <p:nvPr/>
        </p:nvSpPr>
        <p:spPr>
          <a:xfrm>
            <a:off x="8220456" y="3566160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49" name="필지 5-2"/>
          <p:cNvSpPr/>
          <p:nvPr/>
        </p:nvSpPr>
        <p:spPr>
          <a:xfrm>
            <a:off x="8714232" y="3566160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50" name="필지 5-3"/>
          <p:cNvSpPr/>
          <p:nvPr/>
        </p:nvSpPr>
        <p:spPr>
          <a:xfrm>
            <a:off x="9208008" y="3566160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51" name="필지 5-4"/>
          <p:cNvSpPr/>
          <p:nvPr/>
        </p:nvSpPr>
        <p:spPr>
          <a:xfrm>
            <a:off x="9701784" y="3566160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52" name="필지 5-5"/>
          <p:cNvSpPr/>
          <p:nvPr/>
        </p:nvSpPr>
        <p:spPr>
          <a:xfrm>
            <a:off x="10195560" y="3566160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53" name="필지 5-6"/>
          <p:cNvSpPr/>
          <p:nvPr/>
        </p:nvSpPr>
        <p:spPr>
          <a:xfrm>
            <a:off x="10689336" y="3566160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54" name="필지 5-7"/>
          <p:cNvSpPr/>
          <p:nvPr/>
        </p:nvSpPr>
        <p:spPr>
          <a:xfrm>
            <a:off x="11183112" y="3566160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55" name="필지 6-0"/>
          <p:cNvSpPr/>
          <p:nvPr/>
        </p:nvSpPr>
        <p:spPr>
          <a:xfrm>
            <a:off x="7726680" y="4059936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56" name="필지 6-1"/>
          <p:cNvSpPr/>
          <p:nvPr/>
        </p:nvSpPr>
        <p:spPr>
          <a:xfrm>
            <a:off x="8220456" y="4059936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57" name="필지 6-2"/>
          <p:cNvSpPr/>
          <p:nvPr/>
        </p:nvSpPr>
        <p:spPr>
          <a:xfrm>
            <a:off x="8714232" y="4059936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3"/>
          </a:solidFill>
          <a:ln/>
        </p:spPr>
      </p:sp>
      <p:sp>
        <p:nvSpPr>
          <p:cNvPr id="58" name="필지 6-3"/>
          <p:cNvSpPr/>
          <p:nvPr/>
        </p:nvSpPr>
        <p:spPr>
          <a:xfrm>
            <a:off x="9208008" y="4059936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59" name="필지 6-4"/>
          <p:cNvSpPr/>
          <p:nvPr/>
        </p:nvSpPr>
        <p:spPr>
          <a:xfrm>
            <a:off x="9701784" y="4059936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60" name="필지 6-5"/>
          <p:cNvSpPr/>
          <p:nvPr/>
        </p:nvSpPr>
        <p:spPr>
          <a:xfrm>
            <a:off x="10195560" y="4059936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61" name="필지 6-6"/>
          <p:cNvSpPr/>
          <p:nvPr/>
        </p:nvSpPr>
        <p:spPr>
          <a:xfrm>
            <a:off x="10689336" y="4059936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62" name="필지 6-7"/>
          <p:cNvSpPr/>
          <p:nvPr/>
        </p:nvSpPr>
        <p:spPr>
          <a:xfrm>
            <a:off x="11183112" y="4059936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63" name="필지 7-0"/>
          <p:cNvSpPr/>
          <p:nvPr/>
        </p:nvSpPr>
        <p:spPr>
          <a:xfrm>
            <a:off x="7726680" y="4553712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64" name="필지 7-1"/>
          <p:cNvSpPr/>
          <p:nvPr/>
        </p:nvSpPr>
        <p:spPr>
          <a:xfrm>
            <a:off x="8220456" y="4553712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65" name="필지 7-2"/>
          <p:cNvSpPr/>
          <p:nvPr/>
        </p:nvSpPr>
        <p:spPr>
          <a:xfrm>
            <a:off x="8714232" y="4553712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66" name="필지 7-3"/>
          <p:cNvSpPr/>
          <p:nvPr/>
        </p:nvSpPr>
        <p:spPr>
          <a:xfrm>
            <a:off x="9208008" y="4553712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67" name="필지 7-4"/>
          <p:cNvSpPr/>
          <p:nvPr/>
        </p:nvSpPr>
        <p:spPr>
          <a:xfrm>
            <a:off x="9701784" y="4553712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68" name="필지 7-5"/>
          <p:cNvSpPr/>
          <p:nvPr/>
        </p:nvSpPr>
        <p:spPr>
          <a:xfrm>
            <a:off x="10195560" y="4553712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69" name="필지 7-6"/>
          <p:cNvSpPr/>
          <p:nvPr/>
        </p:nvSpPr>
        <p:spPr>
          <a:xfrm>
            <a:off x="10689336" y="4553712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70" name="필지 7-7"/>
          <p:cNvSpPr/>
          <p:nvPr/>
        </p:nvSpPr>
        <p:spPr>
          <a:xfrm>
            <a:off x="11183112" y="4553712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71" name="필지 8-0"/>
          <p:cNvSpPr/>
          <p:nvPr/>
        </p:nvSpPr>
        <p:spPr>
          <a:xfrm>
            <a:off x="7726680" y="5047488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72" name="필지 8-1"/>
          <p:cNvSpPr/>
          <p:nvPr/>
        </p:nvSpPr>
        <p:spPr>
          <a:xfrm>
            <a:off x="8220456" y="5047488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73" name="필지 8-2"/>
          <p:cNvSpPr/>
          <p:nvPr/>
        </p:nvSpPr>
        <p:spPr>
          <a:xfrm>
            <a:off x="8714232" y="5047488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74" name="필지 8-3"/>
          <p:cNvSpPr/>
          <p:nvPr/>
        </p:nvSpPr>
        <p:spPr>
          <a:xfrm>
            <a:off x="9208008" y="5047488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75" name="필지 8-4"/>
          <p:cNvSpPr/>
          <p:nvPr/>
        </p:nvSpPr>
        <p:spPr>
          <a:xfrm>
            <a:off x="9701784" y="5047488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76" name="필지 8-5"/>
          <p:cNvSpPr/>
          <p:nvPr/>
        </p:nvSpPr>
        <p:spPr>
          <a:xfrm>
            <a:off x="10195560" y="5047488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77" name="필지 8-6"/>
          <p:cNvSpPr/>
          <p:nvPr/>
        </p:nvSpPr>
        <p:spPr>
          <a:xfrm>
            <a:off x="10689336" y="5047488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78" name="필지 8-7"/>
          <p:cNvSpPr/>
          <p:nvPr/>
        </p:nvSpPr>
        <p:spPr>
          <a:xfrm>
            <a:off x="11183112" y="5047488"/>
            <a:ext cx="420624" cy="420624"/>
          </a:xfrm>
          <a:prstGeom prst="roundRect">
            <a:avLst>
              <a:gd name="adj" fmla="val 10870"/>
            </a:avLst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79" name="그림 범례"/>
          <p:cNvSpPr txBox="1"/>
          <p:nvPr/>
        </p:nvSpPr>
        <p:spPr>
          <a:xfrm>
            <a:off x="7726680" y="5623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■ 법인 단지   ■ 거절로 생긴 구멍   ▢ 대체 후보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사업개요 · WHO / WHAT / WHY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거절 한 건이 공동영농을 무너뜨리지 않게</a:t>
            </a:r>
            <a:endParaRPr lang="en-US" sz="2800" dirty="0"/>
          </a:p>
        </p:txBody>
      </p:sp>
      <p:sp>
        <p:nvSpPr>
          <p:cNvPr id="4" name="개요 행 WHO"/>
          <p:cNvSpPr/>
          <p:nvPr/>
        </p:nvSpPr>
        <p:spPr>
          <a:xfrm>
            <a:off x="548640" y="160020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5" name="WHO 라벨"/>
          <p:cNvSpPr/>
          <p:nvPr/>
        </p:nvSpPr>
        <p:spPr>
          <a:xfrm>
            <a:off x="777240" y="1901952"/>
            <a:ext cx="1097280" cy="402336"/>
          </a:xfrm>
          <a:prstGeom prst="roundRect">
            <a:avLst>
              <a:gd name="adj" fmla="val 11363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WHO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764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누구를 대상으로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20116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들녘 공동영농을 추진하며 참여 농가를 설득 중인 농업법인 대표·사무장</a:t>
            </a:r>
            <a:endParaRPr lang="en-US" sz="1800" dirty="0"/>
          </a:p>
        </p:txBody>
      </p:sp>
      <p:sp>
        <p:nvSpPr>
          <p:cNvPr id="8" name="개요 행 WHAT"/>
          <p:cNvSpPr/>
          <p:nvPr/>
        </p:nvSpPr>
        <p:spPr>
          <a:xfrm>
            <a:off x="548640" y="278892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" name="WHAT 라벨"/>
          <p:cNvSpPr/>
          <p:nvPr/>
        </p:nvSpPr>
        <p:spPr>
          <a:xfrm>
            <a:off x="777240" y="3090672"/>
            <a:ext cx="1097280" cy="402336"/>
          </a:xfrm>
          <a:prstGeom prst="roundRect">
            <a:avLst>
              <a:gd name="adj" fmla="val 11363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WHAT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953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무엇을 제공하나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320040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농가가 참여를 거절했을 때, 대신 묶을 땅과 달라지는 배당금을 바로 알려 주는 공동영농 시뮬레이터</a:t>
            </a:r>
            <a:endParaRPr lang="en-US" sz="1800" dirty="0"/>
          </a:p>
        </p:txBody>
      </p:sp>
      <p:sp>
        <p:nvSpPr>
          <p:cNvPr id="12" name="개요 행 WHY"/>
          <p:cNvSpPr/>
          <p:nvPr/>
        </p:nvSpPr>
        <p:spPr>
          <a:xfrm>
            <a:off x="548640" y="397764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3" name="WHY 라벨"/>
          <p:cNvSpPr/>
          <p:nvPr/>
        </p:nvSpPr>
        <p:spPr>
          <a:xfrm>
            <a:off x="777240" y="4279392"/>
            <a:ext cx="1097280" cy="402336"/>
          </a:xfrm>
          <a:prstGeom prst="roundRect">
            <a:avLst>
              <a:gd name="adj" fmla="val 11363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WHY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어떤 문제를 겪나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438912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거절로 필드에 구멍이 나면 지원 면적 기준을 지킬 수 있는지, 평당 배당이 얼마나 줄지 몰라 대안을 감으로 정한다</a:t>
            </a:r>
            <a:endParaRPr lang="en-US" sz="1800" dirty="0"/>
          </a:p>
        </p:txBody>
      </p:sp>
      <p:sp>
        <p:nvSpPr>
          <p:cNvPr id="16" name="한 문장 요약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0" tIns="228600" rIns="22860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한 문장으로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공동영농 법인 사무장이 농가 거절로 생긴 구멍 때문에 지원 자격과 배당을 잃지 않도록, 대체 땅과 배당 변화를 바로 보여 준다.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고객탐색 진행 현황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가설은 세웠고, 이제 인터뷰로 검증한다</a:t>
            </a:r>
            <a:endParaRPr lang="en-US" sz="2800" dirty="0"/>
          </a:p>
        </p:txBody>
      </p:sp>
      <p:sp>
        <p:nvSpPr>
          <p:cNvPr id="4" name="단계 1"/>
          <p:cNvSpPr/>
          <p:nvPr/>
        </p:nvSpPr>
        <p:spPr>
          <a:xfrm>
            <a:off x="548640" y="1600200"/>
            <a:ext cx="2157984" cy="73152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177800" rIns="1778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아이디어 정의</a:t>
            </a:r>
            <a:endParaRPr lang="en-US" sz="1300" dirty="0"/>
          </a:p>
        </p:txBody>
      </p:sp>
      <p:sp>
        <p:nvSpPr>
          <p:cNvPr id="5" name="단계 상태 1"/>
          <p:cNvSpPr/>
          <p:nvPr/>
        </p:nvSpPr>
        <p:spPr>
          <a:xfrm>
            <a:off x="850392" y="2468880"/>
            <a:ext cx="1554480" cy="274320"/>
          </a:xfrm>
          <a:prstGeom prst="roundRect">
            <a:avLst>
              <a:gd name="adj" fmla="val 16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완료</a:t>
            </a:r>
            <a:endParaRPr lang="en-US" sz="1100" dirty="0"/>
          </a:p>
        </p:txBody>
      </p:sp>
      <p:sp>
        <p:nvSpPr>
          <p:cNvPr id="6" name="단계 2"/>
          <p:cNvSpPr/>
          <p:nvPr/>
        </p:nvSpPr>
        <p:spPr>
          <a:xfrm>
            <a:off x="2798064" y="1600200"/>
            <a:ext cx="2157984" cy="73152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177800" rIns="1778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고객 정의 · 문제 확인</a:t>
            </a:r>
            <a:endParaRPr lang="en-US" sz="1300" dirty="0"/>
          </a:p>
        </p:txBody>
      </p:sp>
      <p:sp>
        <p:nvSpPr>
          <p:cNvPr id="7" name="단계 상태 2"/>
          <p:cNvSpPr/>
          <p:nvPr/>
        </p:nvSpPr>
        <p:spPr>
          <a:xfrm>
            <a:off x="3099816" y="2468880"/>
            <a:ext cx="1554480" cy="274320"/>
          </a:xfrm>
          <a:prstGeom prst="roundRect">
            <a:avLst>
              <a:gd name="adj" fmla="val 16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가설 수립</a:t>
            </a:r>
            <a:endParaRPr lang="en-US" sz="1100" dirty="0"/>
          </a:p>
        </p:txBody>
      </p:sp>
      <p:sp>
        <p:nvSpPr>
          <p:cNvPr id="8" name="단계 3"/>
          <p:cNvSpPr/>
          <p:nvPr/>
        </p:nvSpPr>
        <p:spPr>
          <a:xfrm>
            <a:off x="5047488" y="1600200"/>
            <a:ext cx="2157984" cy="73152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177800" rIns="1778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BMC · VPC 가설 수립</a:t>
            </a:r>
            <a:endParaRPr lang="en-US" sz="1300" dirty="0"/>
          </a:p>
        </p:txBody>
      </p:sp>
      <p:sp>
        <p:nvSpPr>
          <p:cNvPr id="9" name="단계 상태 3"/>
          <p:cNvSpPr/>
          <p:nvPr/>
        </p:nvSpPr>
        <p:spPr>
          <a:xfrm>
            <a:off x="5349240" y="2468880"/>
            <a:ext cx="1554480" cy="274320"/>
          </a:xfrm>
          <a:prstGeom prst="roundRect">
            <a:avLst>
              <a:gd name="adj" fmla="val 16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완료</a:t>
            </a:r>
            <a:endParaRPr lang="en-US" sz="1100" dirty="0"/>
          </a:p>
        </p:txBody>
      </p:sp>
      <p:sp>
        <p:nvSpPr>
          <p:cNvPr id="10" name="단계 4"/>
          <p:cNvSpPr/>
          <p:nvPr/>
        </p:nvSpPr>
        <p:spPr>
          <a:xfrm>
            <a:off x="7296912" y="1600200"/>
            <a:ext cx="2157984" cy="731520"/>
          </a:xfrm>
          <a:prstGeom prst="chevron">
            <a:avLst/>
          </a:prstGeom>
          <a:solidFill>
            <a:schemeClr val="tx2">
              <a:alpha val="70000"/>
            </a:schemeClr>
          </a:solidFill>
          <a:ln/>
        </p:spPr>
        <p:txBody>
          <a:bodyPr wrap="square" lIns="0" tIns="177800" rIns="1778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인터뷰 검증</a:t>
            </a:r>
            <a:endParaRPr lang="en-US" sz="1300" dirty="0"/>
          </a:p>
        </p:txBody>
      </p:sp>
      <p:sp>
        <p:nvSpPr>
          <p:cNvPr id="11" name="단계 상태 4"/>
          <p:cNvSpPr/>
          <p:nvPr/>
        </p:nvSpPr>
        <p:spPr>
          <a:xfrm>
            <a:off x="7598664" y="2468880"/>
            <a:ext cx="1554480" cy="274320"/>
          </a:xfrm>
          <a:prstGeom prst="roundRect">
            <a:avLst>
              <a:gd name="adj" fmla="val 166667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진행 예정</a:t>
            </a:r>
            <a:endParaRPr lang="en-US" sz="1100" dirty="0"/>
          </a:p>
        </p:txBody>
      </p:sp>
      <p:sp>
        <p:nvSpPr>
          <p:cNvPr id="12" name="단계 5"/>
          <p:cNvSpPr/>
          <p:nvPr/>
        </p:nvSpPr>
        <p:spPr>
          <a:xfrm>
            <a:off x="9546336" y="1600200"/>
            <a:ext cx="2157984" cy="731520"/>
          </a:xfrm>
          <a:prstGeom prst="chevron">
            <a:avLst/>
          </a:prstGeom>
          <a:solidFill>
            <a:schemeClr val="tx2">
              <a:alpha val="70000"/>
            </a:schemeClr>
          </a:solidFill>
          <a:ln/>
        </p:spPr>
        <p:txBody>
          <a:bodyPr wrap="square" lIns="0" tIns="177800" rIns="1778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가설 수정 · 피벗</a:t>
            </a:r>
            <a:endParaRPr lang="en-US" sz="1300" dirty="0"/>
          </a:p>
        </p:txBody>
      </p:sp>
      <p:sp>
        <p:nvSpPr>
          <p:cNvPr id="13" name="단계 상태 5"/>
          <p:cNvSpPr/>
          <p:nvPr/>
        </p:nvSpPr>
        <p:spPr>
          <a:xfrm>
            <a:off x="9848088" y="2468880"/>
            <a:ext cx="1554480" cy="274320"/>
          </a:xfrm>
          <a:prstGeom prst="roundRect">
            <a:avLst>
              <a:gd name="adj" fmla="val 16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데스크 검증 1회</a:t>
            </a:r>
            <a:endParaRPr lang="en-US" sz="1100" dirty="0"/>
          </a:p>
        </p:txBody>
      </p:sp>
      <p:sp>
        <p:nvSpPr>
          <p:cNvPr id="14" name="통계 카드 1"/>
          <p:cNvSpPr/>
          <p:nvPr/>
        </p:nvSpPr>
        <p:spPr>
          <a:xfrm>
            <a:off x="548640" y="3154680"/>
            <a:ext cx="2615184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2"/>
                </a:solidFill>
                <a:latin typeface="Freesentation 8 ExtraBold" pitchFamily="34" charset="0"/>
                <a:ea typeface="Freesentation 8 ExtraBold" pitchFamily="34" charset="-122"/>
                <a:cs typeface="Freesentation 8 ExtraBold" pitchFamily="34" charset="-120"/>
              </a:rPr>
              <a:t>(   )건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누적 인터뷰 수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526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팀 기입</a:t>
            </a:r>
            <a:endParaRPr lang="en-US" sz="1100" dirty="0"/>
          </a:p>
        </p:txBody>
      </p:sp>
      <p:sp>
        <p:nvSpPr>
          <p:cNvPr id="18" name="통계 카드 2"/>
          <p:cNvSpPr/>
          <p:nvPr/>
        </p:nvSpPr>
        <p:spPr>
          <a:xfrm>
            <a:off x="3346704" y="3154680"/>
            <a:ext cx="2615184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75304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2"/>
                </a:solidFill>
                <a:latin typeface="Freesentation 8 ExtraBold" pitchFamily="34" charset="0"/>
                <a:ea typeface="Freesentation 8 ExtraBold" pitchFamily="34" charset="-122"/>
                <a:cs typeface="Freesentation 8 ExtraBold" pitchFamily="34" charset="-120"/>
              </a:rPr>
              <a:t>(   )건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3575304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총 신규 인터뷰 수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575304" y="4526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팀 기입</a:t>
            </a:r>
            <a:endParaRPr lang="en-US" sz="1100" dirty="0"/>
          </a:p>
        </p:txBody>
      </p:sp>
      <p:sp>
        <p:nvSpPr>
          <p:cNvPr id="22" name="통계 카드 3"/>
          <p:cNvSpPr/>
          <p:nvPr/>
        </p:nvSpPr>
        <p:spPr>
          <a:xfrm>
            <a:off x="6144768" y="3154680"/>
            <a:ext cx="2615184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73368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2"/>
                </a:solidFill>
                <a:latin typeface="Freesentation 8 ExtraBold" pitchFamily="34" charset="0"/>
                <a:ea typeface="Freesentation 8 ExtraBold" pitchFamily="34" charset="-122"/>
                <a:cs typeface="Freesentation 8 ExtraBold" pitchFamily="34" charset="-120"/>
              </a:rPr>
              <a:t>(   )건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6373368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신규 대면 인터뷰 수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73368" y="4526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팀 기입</a:t>
            </a:r>
            <a:endParaRPr lang="en-US" sz="1100" dirty="0"/>
          </a:p>
        </p:txBody>
      </p:sp>
      <p:sp>
        <p:nvSpPr>
          <p:cNvPr id="26" name="통계 카드 4"/>
          <p:cNvSpPr/>
          <p:nvPr/>
        </p:nvSpPr>
        <p:spPr>
          <a:xfrm>
            <a:off x="8942832" y="3154680"/>
            <a:ext cx="2615184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71432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2"/>
                </a:solidFill>
                <a:latin typeface="Freesentation 8 ExtraBold" pitchFamily="34" charset="0"/>
                <a:ea typeface="Freesentation 8 ExtraBold" pitchFamily="34" charset="-122"/>
                <a:cs typeface="Freesentation 8 ExtraBold" pitchFamily="34" charset="-120"/>
              </a:rPr>
              <a:t>(   )건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9171432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신규 비대면 인터뷰 수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171432" y="4526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팀 기입</a:t>
            </a:r>
            <a:endParaRPr lang="en-US" sz="1100" dirty="0"/>
          </a:p>
        </p:txBody>
      </p:sp>
      <p:sp>
        <p:nvSpPr>
          <p:cNvPr id="30" name="인터뷰 목표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목표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고객군당 인터뷰 100건.  20건이면 인사이트가 보이고, 40건이면 패턴, 100건이면 설득력 있는 이야기가 된다. 1순위 고객군(법인 사무장·대표)부터 시작한다.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문제 배경 · 데스크 리서치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정부는 공동영농을 늘리는데, 거절 한 건이 문턱이 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tx2"/>
                </a:solidFill>
                <a:latin typeface="Freesentation 8 ExtraBold" pitchFamily="34" charset="0"/>
                <a:ea typeface="Freesentation 8 ExtraBold" pitchFamily="34" charset="-122"/>
                <a:cs typeface="Freesentation 8 ExtraBold" pitchFamily="34" charset="-120"/>
              </a:rPr>
              <a:t>51.3%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농가 인구 중 65세 이상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2025 농림어업총조사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346704" y="1600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tx2"/>
                </a:solidFill>
                <a:latin typeface="Freesentation 8 ExtraBold" pitchFamily="34" charset="0"/>
                <a:ea typeface="Freesentation 8 ExtraBold" pitchFamily="34" charset="-122"/>
                <a:cs typeface="Freesentation 8 ExtraBold" pitchFamily="34" charset="-120"/>
              </a:rPr>
              <a:t>20억 원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346704" y="2468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공동영농 법인 1곳당 2년 지원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46704" y="2788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국비 50 · 지방비 40 · 자부담 10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144768" y="1600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accent3"/>
                </a:solidFill>
                <a:latin typeface="Freesentation 8 ExtraBold" pitchFamily="34" charset="0"/>
                <a:ea typeface="Freesentation 8 ExtraBold" pitchFamily="34" charset="-122"/>
                <a:cs typeface="Freesentation 8 ExtraBold" pitchFamily="34" charset="-120"/>
              </a:rPr>
              <a:t>20ha · 5명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2468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지원 대상 최소 요건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144768" y="2788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개선안은 50ha 상향 검토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942832" y="1600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tx2"/>
                </a:solidFill>
                <a:latin typeface="Freesentation 8 ExtraBold" pitchFamily="34" charset="0"/>
                <a:ea typeface="Freesentation 8 ExtraBold" pitchFamily="34" charset="-122"/>
                <a:cs typeface="Freesentation 8 ExtraBold" pitchFamily="34" charset="-120"/>
              </a:rPr>
              <a:t>100개소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942832" y="2468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2030년까지 육성 목표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942832" y="2788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2026년 6개소 시범 시작</a:t>
            </a:r>
            <a:endParaRPr lang="en-US" sz="1200" dirty="0"/>
          </a:p>
        </p:txBody>
      </p:sp>
      <p:sp>
        <p:nvSpPr>
          <p:cNvPr id="16" name="문제 요약 배경"/>
          <p:cNvSpPr/>
          <p:nvPr/>
        </p:nvSpPr>
        <p:spPr>
          <a:xfrm>
            <a:off x="548640" y="3474720"/>
            <a:ext cx="110642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7" name="필지 0-0"/>
          <p:cNvSpPr/>
          <p:nvPr/>
        </p:nvSpPr>
        <p:spPr>
          <a:xfrm>
            <a:off x="868680" y="379476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18" name="필지 0-1"/>
          <p:cNvSpPr/>
          <p:nvPr/>
        </p:nvSpPr>
        <p:spPr>
          <a:xfrm>
            <a:off x="1280160" y="379476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19" name="필지 0-2"/>
          <p:cNvSpPr/>
          <p:nvPr/>
        </p:nvSpPr>
        <p:spPr>
          <a:xfrm>
            <a:off x="1691640" y="379476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20" name="필지 0-3"/>
          <p:cNvSpPr/>
          <p:nvPr/>
        </p:nvSpPr>
        <p:spPr>
          <a:xfrm>
            <a:off x="2103120" y="379476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21" name="필지 0-4"/>
          <p:cNvSpPr/>
          <p:nvPr/>
        </p:nvSpPr>
        <p:spPr>
          <a:xfrm>
            <a:off x="2514600" y="379476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22" name="필지 0-5"/>
          <p:cNvSpPr/>
          <p:nvPr/>
        </p:nvSpPr>
        <p:spPr>
          <a:xfrm>
            <a:off x="2926080" y="379476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23" name="필지 0-6"/>
          <p:cNvSpPr/>
          <p:nvPr/>
        </p:nvSpPr>
        <p:spPr>
          <a:xfrm>
            <a:off x="3337560" y="379476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24" name="필지 1-0"/>
          <p:cNvSpPr/>
          <p:nvPr/>
        </p:nvSpPr>
        <p:spPr>
          <a:xfrm>
            <a:off x="868680" y="420624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25" name="필지 1-1"/>
          <p:cNvSpPr/>
          <p:nvPr/>
        </p:nvSpPr>
        <p:spPr>
          <a:xfrm>
            <a:off x="1280160" y="420624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26" name="필지 1-2"/>
          <p:cNvSpPr/>
          <p:nvPr/>
        </p:nvSpPr>
        <p:spPr>
          <a:xfrm>
            <a:off x="1691640" y="420624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3"/>
          </a:solidFill>
          <a:ln/>
        </p:spPr>
      </p:sp>
      <p:sp>
        <p:nvSpPr>
          <p:cNvPr id="27" name="필지 1-3"/>
          <p:cNvSpPr/>
          <p:nvPr/>
        </p:nvSpPr>
        <p:spPr>
          <a:xfrm>
            <a:off x="2103120" y="420624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3"/>
          </a:solidFill>
          <a:ln/>
        </p:spPr>
      </p:sp>
      <p:sp>
        <p:nvSpPr>
          <p:cNvPr id="28" name="필지 1-4"/>
          <p:cNvSpPr/>
          <p:nvPr/>
        </p:nvSpPr>
        <p:spPr>
          <a:xfrm>
            <a:off x="2514600" y="420624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29" name="필지 1-5"/>
          <p:cNvSpPr/>
          <p:nvPr/>
        </p:nvSpPr>
        <p:spPr>
          <a:xfrm>
            <a:off x="2926080" y="420624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30" name="필지 1-6"/>
          <p:cNvSpPr/>
          <p:nvPr/>
        </p:nvSpPr>
        <p:spPr>
          <a:xfrm>
            <a:off x="3337560" y="420624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31" name="필지 2-0"/>
          <p:cNvSpPr/>
          <p:nvPr/>
        </p:nvSpPr>
        <p:spPr>
          <a:xfrm>
            <a:off x="868680" y="461772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32" name="필지 2-1"/>
          <p:cNvSpPr/>
          <p:nvPr/>
        </p:nvSpPr>
        <p:spPr>
          <a:xfrm>
            <a:off x="1280160" y="461772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33" name="필지 2-2"/>
          <p:cNvSpPr/>
          <p:nvPr/>
        </p:nvSpPr>
        <p:spPr>
          <a:xfrm>
            <a:off x="1691640" y="461772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34" name="필지 2-3"/>
          <p:cNvSpPr/>
          <p:nvPr/>
        </p:nvSpPr>
        <p:spPr>
          <a:xfrm>
            <a:off x="2103120" y="461772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35" name="필지 2-4"/>
          <p:cNvSpPr/>
          <p:nvPr/>
        </p:nvSpPr>
        <p:spPr>
          <a:xfrm>
            <a:off x="2514600" y="461772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36" name="필지 2-5"/>
          <p:cNvSpPr/>
          <p:nvPr/>
        </p:nvSpPr>
        <p:spPr>
          <a:xfrm>
            <a:off x="2926080" y="461772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3"/>
          </a:solidFill>
          <a:ln/>
        </p:spPr>
      </p:sp>
      <p:sp>
        <p:nvSpPr>
          <p:cNvPr id="37" name="필지 2-6"/>
          <p:cNvSpPr/>
          <p:nvPr/>
        </p:nvSpPr>
        <p:spPr>
          <a:xfrm>
            <a:off x="3337560" y="461772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38" name="필지 3-0"/>
          <p:cNvSpPr/>
          <p:nvPr/>
        </p:nvSpPr>
        <p:spPr>
          <a:xfrm>
            <a:off x="868680" y="502920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39" name="필지 3-1"/>
          <p:cNvSpPr/>
          <p:nvPr/>
        </p:nvSpPr>
        <p:spPr>
          <a:xfrm>
            <a:off x="1280160" y="502920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40" name="필지 3-2"/>
          <p:cNvSpPr/>
          <p:nvPr/>
        </p:nvSpPr>
        <p:spPr>
          <a:xfrm>
            <a:off x="1691640" y="502920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41" name="필지 3-3"/>
          <p:cNvSpPr/>
          <p:nvPr/>
        </p:nvSpPr>
        <p:spPr>
          <a:xfrm>
            <a:off x="2103120" y="502920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42" name="필지 3-4"/>
          <p:cNvSpPr/>
          <p:nvPr/>
        </p:nvSpPr>
        <p:spPr>
          <a:xfrm>
            <a:off x="2514600" y="502920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43" name="필지 3-5"/>
          <p:cNvSpPr/>
          <p:nvPr/>
        </p:nvSpPr>
        <p:spPr>
          <a:xfrm>
            <a:off x="2926080" y="502920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44" name="필지 3-6"/>
          <p:cNvSpPr/>
          <p:nvPr/>
        </p:nvSpPr>
        <p:spPr>
          <a:xfrm>
            <a:off x="3337560" y="5029200"/>
            <a:ext cx="347472" cy="347472"/>
          </a:xfrm>
          <a:prstGeom prst="roundRect">
            <a:avLst>
              <a:gd name="adj" fmla="val 13158"/>
            </a:avLst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45" name="문제 요약"/>
          <p:cNvSpPr txBox="1"/>
          <p:nvPr/>
        </p:nvSpPr>
        <p:spPr>
          <a:xfrm>
            <a:off x="4160520" y="3886200"/>
            <a:ext cx="7223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지원 요건은 들녘 전체가 한 덩어리일 때 넘는다
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한 농가만 거절해도 필드에 구멍이 나고 면적·연결성 요건이 흔들린다. 법인은 그때마다 대체 땅을 찾고, 기준과 배당을 다시 계산해야 한다.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출처: 국가데이터처 2025 농림어업총조사(KDI 경제정보센터 정리), 농림축산식품부 공동영농 확산 지원사업 관련 보도(2025.12, 2026.7)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BMC ❶ 가치제안 · ❷ 고객군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고객군 셋, 그리고 각각에게 줄 가치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아이템 명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빈 필드 시뮬레이터 — 공동영농 거절 필지 대응 의사결정 도구</a:t>
            </a:r>
            <a:endParaRPr lang="en-US" sz="1600" dirty="0"/>
          </a:p>
        </p:txBody>
      </p:sp>
      <p:graphicFrame>
        <p:nvGraphicFramePr>
          <p:cNvPr id="6" name="가치제안 고객군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760720"/>
                <a:gridCol w="329184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순위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가치제안 (가설)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고객군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유형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1"/>
                          </a:solidFill>
                          <a:latin typeface="Freesentation 7 Bold" pitchFamily="34" charset="0"/>
                          <a:ea typeface="Freesentation 7 Bold" pitchFamily="34" charset="-122"/>
                          <a:cs typeface="Freesentation 7 Bold" pitchFamily="34" charset="-120"/>
                        </a:rPr>
                        <a:t>1</a:t>
                      </a:r>
                      <a:endParaRPr lang="en-US" sz="1800" dirty="0">
                        <a:latin typeface="Freesentation 7 Bold" charset="0"/>
                        <a:ea typeface="Freesentation 7 Bold" charset="0"/>
                        <a:cs typeface="Freesentation 7 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거절 필지가 지원 기준과 평당 배당에 주는 영향을 1초 안에 판정해, 대안을 정하는 기간을 2주에서 1일로 줄일 것이다</a:t>
                      </a:r>
                      <a:endParaRPr lang="en-US" sz="14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공동영농을 추진하는 농업법인 대표·사무장</a:t>
                      </a:r>
                      <a:endParaRPr lang="en-US" sz="14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B2B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  <a:latin typeface="Freesentation 7 Bold" pitchFamily="34" charset="0"/>
                          <a:ea typeface="Freesentation 7 Bold" pitchFamily="34" charset="-122"/>
                          <a:cs typeface="Freesentation 7 Bold" pitchFamily="34" charset="-120"/>
                        </a:rPr>
                        <a:t>2</a:t>
                      </a:r>
                      <a:endParaRPr lang="en-US" sz="1800" dirty="0">
                        <a:latin typeface="Freesentation 7 Bold" charset="0"/>
                        <a:ea typeface="Freesentation 7 Bold" charset="0"/>
                        <a:cs typeface="Freesentation 7 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기준을 지키면서 배당이 가장 높은 대체 필지·경작권 교환 후보를 보여 줘, 교환·편입 중개 시간을 줄일 것이다</a:t>
                      </a:r>
                      <a:endParaRPr lang="en-US" sz="14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시·군 농정부서, 농어촌공사 농지은행</a:t>
                      </a:r>
                      <a:endParaRPr lang="en-US" sz="14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B2G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  <a:latin typeface="Freesentation 7 Bold" pitchFamily="34" charset="0"/>
                          <a:ea typeface="Freesentation 7 Bold" pitchFamily="34" charset="-122"/>
                          <a:cs typeface="Freesentation 7 Bold" pitchFamily="34" charset="-120"/>
                        </a:rPr>
                        <a:t>3</a:t>
                      </a:r>
                      <a:endParaRPr lang="en-US" sz="1800" dirty="0">
                        <a:latin typeface="Freesentation 7 Bold" charset="0"/>
                        <a:ea typeface="Freesentation 7 Bold" charset="0"/>
                        <a:cs typeface="Freesentation 7 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평당 배당을 범위로, 흉년 때 금액까지 보여 줘 참여 결정의 불안을 줄일 것이다</a:t>
                      </a:r>
                      <a:endParaRPr lang="en-US" sz="14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참여를 검토 중인 농가 (설득 대상)</a:t>
                      </a:r>
                      <a:endParaRPr lang="en-US" sz="14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B2C · 간접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고객군 정의: 우리가 풀 수 있는 불만과 기대를 가장 강하게 겪는 집단. 1순위부터 VPC를 작성하고 인터뷰한다.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고객 원형 (Customer Archetype) · 1순위 고객군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사무장이 쓰고, 대표가 정하고, 법인이 돈을 낸다</a:t>
            </a:r>
            <a:endParaRPr lang="en-US" sz="2800" dirty="0"/>
          </a:p>
        </p:txBody>
      </p:sp>
      <p:sp>
        <p:nvSpPr>
          <p:cNvPr id="4" name="원형 카드 최종 사용자"/>
          <p:cNvSpPr/>
          <p:nvPr/>
        </p:nvSpPr>
        <p:spPr>
          <a:xfrm>
            <a:off x="54864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chemeClr val="accent1">
              <a:alpha val="1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최종 사용자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  End User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법인 사무장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농가 설득, 단지 설계, 지원 서류를 맡는 실무자</a:t>
            </a:r>
            <a:endParaRPr lang="en-US" sz="1300" dirty="0"/>
          </a:p>
        </p:txBody>
      </p:sp>
      <p:sp>
        <p:nvSpPr>
          <p:cNvPr id="8" name="우선 인터뷰 최종 사용자"/>
          <p:cNvSpPr/>
          <p:nvPr/>
        </p:nvSpPr>
        <p:spPr>
          <a:xfrm>
            <a:off x="2834640" y="3154680"/>
            <a:ext cx="1097280" cy="274320"/>
          </a:xfrm>
          <a:prstGeom prst="roundRect">
            <a:avLst>
              <a:gd name="adj" fmla="val 16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우선 인터뷰</a:t>
            </a:r>
            <a:endParaRPr lang="en-US" sz="1100" dirty="0"/>
          </a:p>
        </p:txBody>
      </p:sp>
      <p:sp>
        <p:nvSpPr>
          <p:cNvPr id="9" name="원형 카드 구매자"/>
          <p:cNvSpPr/>
          <p:nvPr/>
        </p:nvSpPr>
        <p:spPr>
          <a:xfrm>
            <a:off x="4270248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chemeClr val="accent1">
              <a:alpha val="1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8848" y="1801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구매자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  Buyer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공동영농 법인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운영비·자부담에서 도구 비용을 지출</a:t>
            </a:r>
            <a:endParaRPr lang="en-US" sz="1300" dirty="0"/>
          </a:p>
        </p:txBody>
      </p:sp>
      <p:sp>
        <p:nvSpPr>
          <p:cNvPr id="13" name="우선 인터뷰 구매자"/>
          <p:cNvSpPr/>
          <p:nvPr/>
        </p:nvSpPr>
        <p:spPr>
          <a:xfrm>
            <a:off x="6556248" y="3154680"/>
            <a:ext cx="1097280" cy="274320"/>
          </a:xfrm>
          <a:prstGeom prst="roundRect">
            <a:avLst>
              <a:gd name="adj" fmla="val 16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우선 인터뷰</a:t>
            </a:r>
            <a:endParaRPr lang="en-US" sz="1100" dirty="0"/>
          </a:p>
        </p:txBody>
      </p:sp>
      <p:sp>
        <p:nvSpPr>
          <p:cNvPr id="14" name="원형 카드 (최종) 의사결정자"/>
          <p:cNvSpPr/>
          <p:nvPr/>
        </p:nvSpPr>
        <p:spPr>
          <a:xfrm>
            <a:off x="7991856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chemeClr val="accent1">
              <a:alpha val="1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0456" y="1801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(최종) 의사결정자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  Decision Maker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20456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법인 대표 · 이사회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20456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단지 범위와 배분 규정을 총회에 올려 확정</a:t>
            </a:r>
            <a:endParaRPr lang="en-US" sz="1300" dirty="0"/>
          </a:p>
        </p:txBody>
      </p:sp>
      <p:sp>
        <p:nvSpPr>
          <p:cNvPr id="18" name="우선 인터뷰 (최종) 의사결정자"/>
          <p:cNvSpPr/>
          <p:nvPr/>
        </p:nvSpPr>
        <p:spPr>
          <a:xfrm>
            <a:off x="10277856" y="3154680"/>
            <a:ext cx="1097280" cy="274320"/>
          </a:xfrm>
          <a:prstGeom prst="roundRect">
            <a:avLst>
              <a:gd name="adj" fmla="val 16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우선 인터뷰</a:t>
            </a:r>
            <a:endParaRPr lang="en-US" sz="1100" dirty="0"/>
          </a:p>
        </p:txBody>
      </p:sp>
      <p:sp>
        <p:nvSpPr>
          <p:cNvPr id="19" name="원형 카드 인플루언서"/>
          <p:cNvSpPr/>
          <p:nvPr/>
        </p:nvSpPr>
        <p:spPr>
          <a:xfrm>
            <a:off x="548640" y="3749040"/>
            <a:ext cx="356616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950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인플루언서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  Influencer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시·군 농정 담당, 농업기술센터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937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지원 요건 심사와 보완 요청</a:t>
            </a:r>
            <a:endParaRPr lang="en-US" sz="1300" dirty="0"/>
          </a:p>
        </p:txBody>
      </p:sp>
      <p:sp>
        <p:nvSpPr>
          <p:cNvPr id="23" name="원형 카드 추천자"/>
          <p:cNvSpPr/>
          <p:nvPr/>
        </p:nvSpPr>
        <p:spPr>
          <a:xfrm>
            <a:off x="4270248" y="3749040"/>
            <a:ext cx="356616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98848" y="3950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추천자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  Recommender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498848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공동영농 협의체, 농지은행 지사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498848" y="4937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다른 법인 사례와 도구를 소개</a:t>
            </a:r>
            <a:endParaRPr lang="en-US" sz="1300" dirty="0"/>
          </a:p>
        </p:txBody>
      </p:sp>
      <p:sp>
        <p:nvSpPr>
          <p:cNvPr id="27" name="원형 카드 방해자"/>
          <p:cNvSpPr/>
          <p:nvPr/>
        </p:nvSpPr>
        <p:spPr>
          <a:xfrm>
            <a:off x="7991856" y="3749040"/>
            <a:ext cx="356616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0456" y="3950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방해자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  Saboteur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220456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거절 농가, 사업계획 대행 업체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220456" y="4937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참여 거부, 기존 방식 유지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B2B 구매는 실무자 · 대표 · 법인 결재가 모두 맞아야 일어난다. 원형마다 고객 프로파일을 따로 쓰고, 상위 3개 원형부터 인터뷰한다.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VPC 고객 프로파일 ❶ 고객의 일 (Jobs-To-Be-Done)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가장 스트레스가 큰 순간: 거절 뒤 단지를 다시 짜는 시간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고객군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공동영농 추진 법인 사무장 (최종 사용자)   ·   과업: 지원사업을 신청할 공동영농 단지 만들기</a:t>
            </a:r>
            <a:endParaRPr lang="en-US" sz="1500" dirty="0"/>
          </a:p>
        </p:txBody>
      </p:sp>
      <p:sp>
        <p:nvSpPr>
          <p:cNvPr id="5" name="문제상황 범위"/>
          <p:cNvSpPr/>
          <p:nvPr/>
        </p:nvSpPr>
        <p:spPr>
          <a:xfrm>
            <a:off x="3300984" y="2057400"/>
            <a:ext cx="5618988" cy="2606040"/>
          </a:xfrm>
          <a:prstGeom prst="rect">
            <a:avLst/>
          </a:prstGeom>
          <a:solidFill>
            <a:schemeClr val="accent3">
              <a:alpha val="8000"/>
            </a:schemeClr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3355848" y="2121408"/>
            <a:ext cx="5509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문제상황 범위: 거절 발생 → 재설계 완료</a:t>
            </a:r>
            <a:endParaRPr lang="en-US" sz="1300" dirty="0"/>
          </a:p>
        </p:txBody>
      </p:sp>
      <p:sp>
        <p:nvSpPr>
          <p:cNvPr id="7" name="단계 번호 1"/>
          <p:cNvSpPr/>
          <p:nvPr/>
        </p:nvSpPr>
        <p:spPr>
          <a:xfrm>
            <a:off x="996696" y="2514600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행동 1"/>
          <p:cNvSpPr/>
          <p:nvPr/>
        </p:nvSpPr>
        <p:spPr>
          <a:xfrm>
            <a:off x="548640" y="3063240"/>
            <a:ext cx="1298448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15468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대상 들녘 · 필지 범위 정하기</a:t>
            </a:r>
            <a:endParaRPr lang="en-US" sz="1300" dirty="0"/>
          </a:p>
        </p:txBody>
      </p:sp>
      <p:sp>
        <p:nvSpPr>
          <p:cNvPr id="10" name="단계 번호 2"/>
          <p:cNvSpPr/>
          <p:nvPr/>
        </p:nvSpPr>
        <p:spPr>
          <a:xfrm>
            <a:off x="2400300" y="2514600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행동 2"/>
          <p:cNvSpPr/>
          <p:nvPr/>
        </p:nvSpPr>
        <p:spPr>
          <a:xfrm>
            <a:off x="1952244" y="3063240"/>
            <a:ext cx="1298448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43684" y="315468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농가 설명회 · 개별 방문</a:t>
            </a:r>
            <a:endParaRPr lang="en-US" sz="1300" dirty="0"/>
          </a:p>
        </p:txBody>
      </p:sp>
      <p:sp>
        <p:nvSpPr>
          <p:cNvPr id="13" name="단계 번호 3"/>
          <p:cNvSpPr/>
          <p:nvPr/>
        </p:nvSpPr>
        <p:spPr>
          <a:xfrm>
            <a:off x="3803904" y="2514600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행동 3"/>
          <p:cNvSpPr/>
          <p:nvPr/>
        </p:nvSpPr>
        <p:spPr>
          <a:xfrm>
            <a:off x="3355848" y="3063240"/>
            <a:ext cx="1298448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47288" y="315468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참여 동의서 받기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55848" y="422452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✓ 거절 발생</a:t>
            </a:r>
            <a:endParaRPr lang="en-US" sz="1200" dirty="0"/>
          </a:p>
        </p:txBody>
      </p:sp>
      <p:sp>
        <p:nvSpPr>
          <p:cNvPr id="17" name="단계 번호 4"/>
          <p:cNvSpPr/>
          <p:nvPr/>
        </p:nvSpPr>
        <p:spPr>
          <a:xfrm>
            <a:off x="5207508" y="2514600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행동 4"/>
          <p:cNvSpPr/>
          <p:nvPr/>
        </p:nvSpPr>
        <p:spPr>
          <a:xfrm>
            <a:off x="4759452" y="3063240"/>
            <a:ext cx="1298448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50892" y="315468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빠진 필지를 메울 땅 찾기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759452" y="422452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✓ 답사 · 지번도</a:t>
            </a:r>
            <a:endParaRPr lang="en-US" sz="1200" dirty="0"/>
          </a:p>
        </p:txBody>
      </p:sp>
      <p:sp>
        <p:nvSpPr>
          <p:cNvPr id="21" name="단계 번호 5"/>
          <p:cNvSpPr/>
          <p:nvPr/>
        </p:nvSpPr>
        <p:spPr>
          <a:xfrm>
            <a:off x="6611112" y="2514600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행동 5"/>
          <p:cNvSpPr/>
          <p:nvPr/>
        </p:nvSpPr>
        <p:spPr>
          <a:xfrm>
            <a:off x="6163056" y="3063240"/>
            <a:ext cx="1298448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54496" y="315468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면적 · 농가 수 요건 다시 확인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163056" y="422452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✓ 기준 미달 걱정</a:t>
            </a:r>
            <a:endParaRPr lang="en-US" sz="1200" dirty="0"/>
          </a:p>
        </p:txBody>
      </p:sp>
      <p:sp>
        <p:nvSpPr>
          <p:cNvPr id="25" name="단계 번호 6"/>
          <p:cNvSpPr/>
          <p:nvPr/>
        </p:nvSpPr>
        <p:spPr>
          <a:xfrm>
            <a:off x="8014716" y="2514600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행동 6"/>
          <p:cNvSpPr/>
          <p:nvPr/>
        </p:nvSpPr>
        <p:spPr>
          <a:xfrm>
            <a:off x="7566660" y="3063240"/>
            <a:ext cx="1298448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58100" y="315468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수익 · 배당 계획 다시 짜기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566660" y="422452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✓ 배당 설명 불가</a:t>
            </a:r>
            <a:endParaRPr lang="en-US" sz="1200" dirty="0"/>
          </a:p>
        </p:txBody>
      </p:sp>
      <p:sp>
        <p:nvSpPr>
          <p:cNvPr id="29" name="단계 번호 7"/>
          <p:cNvSpPr/>
          <p:nvPr/>
        </p:nvSpPr>
        <p:spPr>
          <a:xfrm>
            <a:off x="9418320" y="2514600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행동 7"/>
          <p:cNvSpPr/>
          <p:nvPr/>
        </p:nvSpPr>
        <p:spPr>
          <a:xfrm>
            <a:off x="8970264" y="3063240"/>
            <a:ext cx="1298448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61704" y="315468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지원사업 신청서 제출</a:t>
            </a:r>
            <a:endParaRPr lang="en-US" sz="1300" dirty="0"/>
          </a:p>
        </p:txBody>
      </p:sp>
      <p:sp>
        <p:nvSpPr>
          <p:cNvPr id="32" name="단계 번호 8"/>
          <p:cNvSpPr/>
          <p:nvPr/>
        </p:nvSpPr>
        <p:spPr>
          <a:xfrm>
            <a:off x="10821924" y="2514600"/>
            <a:ext cx="402336" cy="402336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8</a:t>
            </a:r>
            <a:endParaRPr lang="en-US" sz="1400" dirty="0"/>
          </a:p>
        </p:txBody>
      </p:sp>
      <p:sp>
        <p:nvSpPr>
          <p:cNvPr id="33" name="행동 8"/>
          <p:cNvSpPr/>
          <p:nvPr/>
        </p:nvSpPr>
        <p:spPr>
          <a:xfrm>
            <a:off x="10373868" y="3063240"/>
            <a:ext cx="1298448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465308" y="3154680"/>
            <a:ext cx="111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총회에서 배분 규정 확정</a:t>
            </a:r>
            <a:endParaRPr lang="en-US" sz="1300" dirty="0"/>
          </a:p>
        </p:txBody>
      </p:sp>
      <p:sp>
        <p:nvSpPr>
          <p:cNvPr id="35" name="JTBD 설명 배경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시작과 끝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참여 동의서를 받다가 거절이 나온 순간부터, 기준을 다시 맞춘 단지 설계가 끝날 때까지.
</a:t>
            </a:r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확인 방법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현재는 데스크 리서치로 세운 가설이다. 사무장 인터뷰에서 "마지막 거절 때 무엇부터 했는지"를 순서대로 들어 검증한다.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VPC 고객 프로파일 ❷ 불만 (Pains) · ❸ 기대 (Gains)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불만은 '기준 재확인'과 '설명하지 못하는 배당'에 몰릴 것이다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❷ 고객의 불만 (Customer Pains)</a:t>
            </a:r>
            <a:endParaRPr lang="en-US" sz="1600" dirty="0"/>
          </a:p>
        </p:txBody>
      </p:sp>
      <p:sp>
        <p:nvSpPr>
          <p:cNvPr id="5" name="불만 P1"/>
          <p:cNvSpPr/>
          <p:nvPr/>
        </p:nvSpPr>
        <p:spPr>
          <a:xfrm>
            <a:off x="548640" y="1874520"/>
            <a:ext cx="6766560" cy="896112"/>
          </a:xfrm>
          <a:prstGeom prst="roundRect">
            <a:avLst>
              <a:gd name="adj" fmla="val 8163"/>
            </a:avLst>
          </a:prstGeom>
          <a:solidFill>
            <a:schemeClr val="accent3">
              <a:alpha val="7000"/>
            </a:schemeClr>
          </a:solidFill>
          <a:ln/>
        </p:spPr>
      </p:sp>
      <p:sp>
        <p:nvSpPr>
          <p:cNvPr id="6" name="불만 순위 P1"/>
          <p:cNvSpPr/>
          <p:nvPr/>
        </p:nvSpPr>
        <p:spPr>
          <a:xfrm>
            <a:off x="685800" y="1984248"/>
            <a:ext cx="777240" cy="274320"/>
          </a:xfrm>
          <a:prstGeom prst="roundRect">
            <a:avLst>
              <a:gd name="adj" fmla="val 16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1순위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659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P1  거절이 나올 때마다 면적·농가 수 기준(20ha·5명)을 다시 확인하느라 신청 준비가 2주 이상 늦어질 것이다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7802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빈도: 단지당 거절 건수 · 강도: 지원금 20억 원 탈락 위험</a:t>
            </a:r>
            <a:endParaRPr lang="en-US" sz="1100" dirty="0"/>
          </a:p>
        </p:txBody>
      </p:sp>
      <p:sp>
        <p:nvSpPr>
          <p:cNvPr id="9" name="불만 P2"/>
          <p:cNvSpPr/>
          <p:nvPr/>
        </p:nvSpPr>
        <p:spPr>
          <a:xfrm>
            <a:off x="548640" y="2880360"/>
            <a:ext cx="6766560" cy="896112"/>
          </a:xfrm>
          <a:prstGeom prst="roundRect">
            <a:avLst>
              <a:gd name="adj" fmla="val 8163"/>
            </a:avLst>
          </a:prstGeom>
          <a:solidFill>
            <a:schemeClr val="accent3">
              <a:alpha val="7000"/>
            </a:schemeClr>
          </a:solidFill>
          <a:ln/>
        </p:spPr>
      </p:sp>
      <p:sp>
        <p:nvSpPr>
          <p:cNvPr id="10" name="불만 순위 P2"/>
          <p:cNvSpPr/>
          <p:nvPr/>
        </p:nvSpPr>
        <p:spPr>
          <a:xfrm>
            <a:off x="685800" y="2990088"/>
            <a:ext cx="777240" cy="274320"/>
          </a:xfrm>
          <a:prstGeom prst="roundRect">
            <a:avLst>
              <a:gd name="adj" fmla="val 16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2순위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718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P2  대체 필지를 지번도와 현장 답사로 찾느라 후보 1곳 확인에 하루 이상 쓸 것이다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48386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시간: 후보당 확인 일수</a:t>
            </a:r>
            <a:endParaRPr lang="en-US" sz="1100" dirty="0"/>
          </a:p>
        </p:txBody>
      </p:sp>
      <p:sp>
        <p:nvSpPr>
          <p:cNvPr id="13" name="불만 P3"/>
          <p:cNvSpPr/>
          <p:nvPr/>
        </p:nvSpPr>
        <p:spPr>
          <a:xfrm>
            <a:off x="548640" y="3886200"/>
            <a:ext cx="6766560" cy="896112"/>
          </a:xfrm>
          <a:prstGeom prst="roundRect">
            <a:avLst>
              <a:gd name="adj" fmla="val 8163"/>
            </a:avLst>
          </a:prstGeom>
          <a:solidFill>
            <a:schemeClr val="accent3">
              <a:alpha val="7000"/>
            </a:schemeClr>
          </a:solidFill>
          <a:ln/>
        </p:spPr>
      </p:sp>
      <p:sp>
        <p:nvSpPr>
          <p:cNvPr id="14" name="불만 순위 P3"/>
          <p:cNvSpPr/>
          <p:nvPr/>
        </p:nvSpPr>
        <p:spPr>
          <a:xfrm>
            <a:off x="685800" y="3995928"/>
            <a:ext cx="777240" cy="274320"/>
          </a:xfrm>
          <a:prstGeom prst="roundRect">
            <a:avLst>
              <a:gd name="adj" fmla="val 16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3순위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9776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P3  배당이 얼마나 줄지 숫자로 말하지 못해, 남은 농가 3명 중 1명 이상이 다시 망설일 것이다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48970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확률: 재설득 필요 비율</a:t>
            </a:r>
            <a:endParaRPr lang="en-US" sz="1100" dirty="0"/>
          </a:p>
        </p:txBody>
      </p:sp>
      <p:sp>
        <p:nvSpPr>
          <p:cNvPr id="17" name="불만 P4"/>
          <p:cNvSpPr/>
          <p:nvPr/>
        </p:nvSpPr>
        <p:spPr>
          <a:xfrm>
            <a:off x="548640" y="4892040"/>
            <a:ext cx="6766560" cy="896112"/>
          </a:xfrm>
          <a:prstGeom prst="roundRect">
            <a:avLst>
              <a:gd name="adj" fmla="val 8163"/>
            </a:avLst>
          </a:prstGeom>
          <a:solidFill>
            <a:schemeClr val="accent3">
              <a:alpha val="7000"/>
            </a:schemeClr>
          </a:solidFill>
          <a:ln/>
        </p:spPr>
      </p:sp>
      <p:sp>
        <p:nvSpPr>
          <p:cNvPr id="18" name="불만 순위 P4"/>
          <p:cNvSpPr/>
          <p:nvPr/>
        </p:nvSpPr>
        <p:spPr>
          <a:xfrm>
            <a:off x="685800" y="5001768"/>
            <a:ext cx="777240" cy="274320"/>
          </a:xfrm>
          <a:prstGeom prst="roundRect">
            <a:avLst>
              <a:gd name="adj" fmla="val 16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4순위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983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P4  흉년 때 배당을 설명하지 못해 고정 임차료를 요구받고, 위험을 법인이 떠안을 것이다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49554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비용: 흉년 시 법인 손실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❸ 고객의 기대 (Customer Gains)</a:t>
            </a:r>
            <a:endParaRPr lang="en-US" sz="1600" dirty="0"/>
          </a:p>
        </p:txBody>
      </p:sp>
      <p:sp>
        <p:nvSpPr>
          <p:cNvPr id="22" name="기대 G1"/>
          <p:cNvSpPr/>
          <p:nvPr/>
        </p:nvSpPr>
        <p:spPr>
          <a:xfrm>
            <a:off x="7589520" y="187452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23" name="기대 순위 G1"/>
          <p:cNvSpPr/>
          <p:nvPr/>
        </p:nvSpPr>
        <p:spPr>
          <a:xfrm>
            <a:off x="7726680" y="1984248"/>
            <a:ext cx="777240" cy="274320"/>
          </a:xfrm>
          <a:prstGeom prst="roundRect">
            <a:avLst>
              <a:gd name="adj" fmla="val 16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1순위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613648" y="1965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G1  거절 당일 대안을 정해 신청 일정을 지킨다 (재설계 1일 이내)</a:t>
            </a:r>
            <a:endParaRPr lang="en-US" sz="1300" dirty="0"/>
          </a:p>
        </p:txBody>
      </p:sp>
      <p:sp>
        <p:nvSpPr>
          <p:cNvPr id="25" name="기대 G2"/>
          <p:cNvSpPr/>
          <p:nvPr/>
        </p:nvSpPr>
        <p:spPr>
          <a:xfrm>
            <a:off x="7589520" y="288036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26" name="기대 순위 G2"/>
          <p:cNvSpPr/>
          <p:nvPr/>
        </p:nvSpPr>
        <p:spPr>
          <a:xfrm>
            <a:off x="7726680" y="2990088"/>
            <a:ext cx="777240" cy="274320"/>
          </a:xfrm>
          <a:prstGeom prst="roundRect">
            <a:avLst>
              <a:gd name="adj" fmla="val 16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2순위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61364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G2  농가에게 평당 배당을 범위로 보여 주며 설득한다 (예: 평당 1,850~2,250원)</a:t>
            </a:r>
            <a:endParaRPr lang="en-US" sz="1300" dirty="0"/>
          </a:p>
        </p:txBody>
      </p:sp>
      <p:sp>
        <p:nvSpPr>
          <p:cNvPr id="28" name="기대 G3"/>
          <p:cNvSpPr/>
          <p:nvPr/>
        </p:nvSpPr>
        <p:spPr>
          <a:xfrm>
            <a:off x="7589520" y="388620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29" name="기대 순위 G3"/>
          <p:cNvSpPr/>
          <p:nvPr/>
        </p:nvSpPr>
        <p:spPr>
          <a:xfrm>
            <a:off x="7726680" y="3995928"/>
            <a:ext cx="777240" cy="274320"/>
          </a:xfrm>
          <a:prstGeom prst="roundRect">
            <a:avLst>
              <a:gd name="adj" fmla="val 16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3순위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613648" y="39776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G3  기준 점검 결과를 신청 서류에 그대로 쓴다</a:t>
            </a:r>
            <a:endParaRPr lang="en-US" sz="1300" dirty="0"/>
          </a:p>
        </p:txBody>
      </p:sp>
      <p:sp>
        <p:nvSpPr>
          <p:cNvPr id="31" name="우선순위 근거"/>
          <p:cNvSpPr/>
          <p:nvPr/>
        </p:nvSpPr>
        <p:spPr>
          <a:xfrm>
            <a:off x="7589520" y="489204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26680" y="49834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우선순위는 아직 데스크 가설이다. 인터뷰에서 빈도와 강도를 확인해 다시 매긴다.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VPC 가치맵 ④ 제품/서비스 · ⑤ 불만 해결 방안 · ⑥ 기대 충족 방안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불만 넷, 기대 셋을 기능 하나씩으로 1:1 대응한다</a:t>
            </a:r>
            <a:endParaRPr lang="en-US" sz="2800" dirty="0"/>
          </a:p>
        </p:txBody>
      </p:sp>
      <p:graphicFrame>
        <p:nvGraphicFramePr>
          <p:cNvPr id="10" name="가치맵 매칭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5760720"/>
                <a:gridCol w="2286000"/>
              </a:tblGrid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고객 프로파일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매칭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불만 해결 · 기대 충족 방안 (가설)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제품/서비스 기능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P1 기준 재확인 2주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Freesentation 7 Bold" pitchFamily="34" charset="0"/>
                          <a:ea typeface="Freesentation 7 Bold" pitchFamily="34" charset="-122"/>
                          <a:cs typeface="Freesentation 7 Bold" pitchFamily="34" charset="-120"/>
                        </a:rPr>
                        <a:t>PR1 ↔</a:t>
                      </a:r>
                      <a:endParaRPr lang="en-US" sz="1300" dirty="0">
                        <a:latin typeface="Freesentation 7 Bold" charset="0"/>
                        <a:ea typeface="Freesentation 7 Bold" charset="0"/>
                        <a:cs typeface="Freesentation 7 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거절 필지를 클릭 한 번으로 해제하면 면적·농가 수·연결성 기준을 1초 안에 다시 판정한다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거절 클릭 · 기준 판정</a:t>
                      </a:r>
                      <a:endParaRPr lang="en-US" sz="13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P2 대체 필지 답사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Freesentation 7 Bold" pitchFamily="34" charset="0"/>
                          <a:ea typeface="Freesentation 7 Bold" pitchFamily="34" charset="-122"/>
                          <a:cs typeface="Freesentation 7 Bold" pitchFamily="34" charset="-120"/>
                        </a:rPr>
                        <a:t>PR2 ↔</a:t>
                      </a:r>
                      <a:endParaRPr lang="en-US" sz="1300" dirty="0">
                        <a:latin typeface="Freesentation 7 Bold" charset="0"/>
                        <a:ea typeface="Freesentation 7 Bold" charset="0"/>
                        <a:cs typeface="Freesentation 7 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단지 경계 300m 안의 대체 필지와 경작권 교환 후보를 자동으로 찾아 최적 1 + 예비 2만 답사하게 한다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대체 후보 순위</a:t>
                      </a:r>
                      <a:endParaRPr lang="en-US" sz="13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P3 배당 설명 불가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Freesentation 7 Bold" pitchFamily="34" charset="0"/>
                          <a:ea typeface="Freesentation 7 Bold" pitchFamily="34" charset="-122"/>
                          <a:cs typeface="Freesentation 7 Bold" pitchFamily="34" charset="-120"/>
                        </a:rPr>
                        <a:t>PR3 ↔</a:t>
                      </a:r>
                      <a:endParaRPr lang="en-US" sz="1300" dirty="0">
                        <a:latin typeface="Freesentation 7 Bold" charset="0"/>
                        <a:ea typeface="Freesentation 7 Bold" charset="0"/>
                        <a:cs typeface="Freesentation 7 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평당 배당 변화를 땅·경로·교환 효과로 나눠 숫자로 보여 준다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배당 증감 분해</a:t>
                      </a:r>
                      <a:endParaRPr lang="en-US" sz="13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P4 흉년 위험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Freesentation 7 Bold" pitchFamily="34" charset="0"/>
                          <a:ea typeface="Freesentation 7 Bold" pitchFamily="34" charset="-122"/>
                          <a:cs typeface="Freesentation 7 Bold" pitchFamily="34" charset="-120"/>
                        </a:rPr>
                        <a:t>PR4 ↔</a:t>
                      </a:r>
                      <a:endParaRPr lang="en-US" sz="1300" dirty="0">
                        <a:latin typeface="Freesentation 7 Bold" charset="0"/>
                        <a:ea typeface="Freesentation 7 Bold" charset="0"/>
                        <a:cs typeface="Freesentation 7 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작황 −20%·−30%에서 배당형·고정 임차료형·혼합형 금액과 법인 유보금을 비교한다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흉년 스트레스 테스트</a:t>
                      </a:r>
                      <a:endParaRPr lang="en-US" sz="13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G1 당일 대안 결정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  <a:latin typeface="Freesentation 7 Bold" pitchFamily="34" charset="0"/>
                          <a:ea typeface="Freesentation 7 Bold" pitchFamily="34" charset="-122"/>
                          <a:cs typeface="Freesentation 7 Bold" pitchFamily="34" charset="-120"/>
                        </a:rPr>
                        <a:t>GC1 ↔</a:t>
                      </a:r>
                      <a:endParaRPr lang="en-US" sz="1300" dirty="0">
                        <a:latin typeface="Freesentation 7 Bold" charset="0"/>
                        <a:ea typeface="Freesentation 7 Bold" charset="0"/>
                        <a:cs typeface="Freesentation 7 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예비 후보 2개를 미리 정해, 또 거절돼도 바로 다음 설득으로 넘어간다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최적 1 + 예비 2</a:t>
                      </a:r>
                      <a:endParaRPr lang="en-US" sz="13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G2 범위로 설득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  <a:latin typeface="Freesentation 7 Bold" pitchFamily="34" charset="0"/>
                          <a:ea typeface="Freesentation 7 Bold" pitchFamily="34" charset="-122"/>
                          <a:cs typeface="Freesentation 7 Bold" pitchFamily="34" charset="-120"/>
                        </a:rPr>
                        <a:t>GC2 ↔</a:t>
                      </a:r>
                      <a:endParaRPr lang="en-US" sz="1300" dirty="0">
                        <a:latin typeface="Freesentation 7 Bold" charset="0"/>
                        <a:ea typeface="Freesentation 7 Bold" charset="0"/>
                        <a:cs typeface="Freesentation 7 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농가별 설득 카드에 평당 배당 범위와 최대 제시액을 담는다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설득 카드</a:t>
                      </a:r>
                      <a:endParaRPr lang="en-US" sz="13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G3 서류에 그대로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  <a:latin typeface="Freesentation 7 Bold" pitchFamily="34" charset="0"/>
                          <a:ea typeface="Freesentation 7 Bold" pitchFamily="34" charset="-122"/>
                          <a:cs typeface="Freesentation 7 Bold" pitchFamily="34" charset="-120"/>
                        </a:rPr>
                        <a:t>GC3 ↔</a:t>
                      </a:r>
                      <a:endParaRPr lang="en-US" sz="1300" dirty="0">
                        <a:latin typeface="Freesentation 7 Bold" charset="0"/>
                        <a:ea typeface="Freesentation 7 Bold" charset="0"/>
                        <a:cs typeface="Freesentation 7 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기준 점검 결과를 내보내 신청 서류에 붙인다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점검 결과 내보내기</a:t>
                      </a:r>
                      <a:endParaRPr lang="en-US" sz="13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확인: 우선순위 1~4의 불만에 빠짐없이 해결 방안이 붙어 있다. 기능은 '기술'이 아니라 고객이 느끼는 효과로 적었다.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대체재 비교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지금은 지번도·엑셀과 감으로 구멍을 메운다</a:t>
            </a:r>
            <a:endParaRPr lang="en-US" sz="2800" dirty="0"/>
          </a:p>
        </p:txBody>
      </p:sp>
      <p:graphicFrame>
        <p:nvGraphicFramePr>
          <p:cNvPr id="11" name="대체재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20040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현재 대안 (가설)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어떻게 쓰나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한계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빈 필드 시뮬레이터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지번도 · 위성지도 + 엑셀</a:t>
                      </a:r>
                      <a:endParaRPr lang="en-US" sz="14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사무장이 필지 면적을 손으로 더한다</a:t>
                      </a:r>
                      <a:endParaRPr lang="en-US" sz="14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대안마다 다시 계산하고, 배당·경로 영향은 못 본다</a:t>
                      </a:r>
                      <a:endParaRPr lang="en-US" sz="14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클릭 한 번에 기준과 배당 재계산</a:t>
                      </a:r>
                      <a:endParaRPr lang="en-US" sz="14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농어촌공사 농지은행 상담</a:t>
                      </a:r>
                      <a:endParaRPr lang="en-US" sz="14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임대·교환 가능한 필지를 문의한다</a:t>
                      </a:r>
                      <a:endParaRPr lang="en-US" sz="14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처리에 시간이 걸리고, 배당 영향은 모른다</a:t>
                      </a:r>
                      <a:endParaRPr lang="en-US" sz="14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후보 순위를 들고 상담</a:t>
                      </a:r>
                      <a:endParaRPr lang="en-US" sz="14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사업계획 대행 · 컨설팅</a:t>
                      </a:r>
                      <a:endParaRPr lang="en-US" sz="14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지원 서류와 계획을 맡긴다</a:t>
                      </a:r>
                      <a:endParaRPr lang="en-US" sz="14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비용이 들고, 거절이 생길 때마다 다시 맡겨야 한다</a:t>
                      </a:r>
                      <a:endParaRPr lang="en-US" sz="14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법인이 직접 반복 계산</a:t>
                      </a:r>
                      <a:endParaRPr lang="en-US" sz="14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감과 경험</a:t>
                      </a:r>
                      <a:endParaRPr lang="en-US" sz="14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가까운 땅부터 다시 설득한다</a:t>
                      </a:r>
                      <a:endParaRPr lang="en-US" sz="14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기준 미달과 배당 손실을 놓친다</a:t>
                      </a:r>
                      <a:endParaRPr lang="en-US" sz="14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기준 충족 + 배당 최대 안 추천</a:t>
                      </a:r>
                      <a:endParaRPr lang="en-US" sz="14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대체재 검증 배경"/>
          <p:cNvSpPr/>
          <p:nvPr/>
        </p:nvSpPr>
        <p:spPr>
          <a:xfrm>
            <a:off x="548640" y="548640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인터뷰에서 확인할 것: 실제로 어떤 대안을 썼는지, 지난해 외부에 얼마를 지출했는지, 지금도 그 방법을 쓰는 이유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가설 검증 · 데스크 리서치와 시뮬레이션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첫 문제 가설은 기각: 진짜 손실은 경로가 아니라 기준과 배당</a:t>
            </a:r>
            <a:endParaRPr lang="en-US" sz="2800" dirty="0"/>
          </a:p>
        </p:txBody>
      </p:sp>
      <p:sp>
        <p:nvSpPr>
          <p:cNvPr id="4" name="초기 가설 카드"/>
          <p:cNvSpPr/>
          <p:nvPr/>
        </p:nvSpPr>
        <p:spPr>
          <a:xfrm>
            <a:off x="548640" y="1554480"/>
            <a:ext cx="32918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1554480" cy="274320"/>
          </a:xfrm>
          <a:prstGeom prst="roundRect">
            <a:avLst>
              <a:gd name="adj" fmla="val 166667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초기 문제 가설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구멍이 생기면 트랙터 이동 경로가 길어져 생산비가 크게 늘 것이다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886200" y="2286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accent5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근거 카드"/>
          <p:cNvSpPr/>
          <p:nvPr/>
        </p:nvSpPr>
        <p:spPr>
          <a:xfrm>
            <a:off x="4297680" y="1554480"/>
            <a:ext cx="365760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조합원 1명이 거절할 때 순이익 감소분</a:t>
            </a:r>
            <a:endParaRPr lang="en-US" sz="1300" dirty="0"/>
          </a:p>
        </p:txBody>
      </p:sp>
      <p:sp>
        <p:nvSpPr>
          <p:cNvPr id="10" name="땅 몫 막대"/>
          <p:cNvSpPr/>
          <p:nvPr/>
        </p:nvSpPr>
        <p:spPr>
          <a:xfrm>
            <a:off x="4526280" y="2103120"/>
            <a:ext cx="3008376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경로 몫 막대"/>
          <p:cNvSpPr/>
          <p:nvPr/>
        </p:nvSpPr>
        <p:spPr>
          <a:xfrm>
            <a:off x="7534656" y="2103120"/>
            <a:ext cx="192024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670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Freesentation 8 ExtraBold" pitchFamily="34" charset="0"/>
                <a:ea typeface="Freesentation 8 ExtraBold" pitchFamily="34" charset="-122"/>
                <a:cs typeface="Freesentation 8 ExtraBold" pitchFamily="34" charset="-120"/>
              </a:rPr>
              <a:t>94%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  빠진 땅의 몫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  <a:latin typeface="Freesentation 8 ExtraBold" pitchFamily="34" charset="0"/>
                <a:ea typeface="Freesentation 8 ExtraBold" pitchFamily="34" charset="-122"/>
                <a:cs typeface="Freesentation 8 ExtraBold" pitchFamily="34" charset="-120"/>
              </a:rPr>
              <a:t>6%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  경로·기계비 증가 (연 73만 원, 순이익의 0.4%)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2286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수정 가설 카드"/>
          <p:cNvSpPr/>
          <p:nvPr/>
        </p:nvSpPr>
        <p:spPr>
          <a:xfrm>
            <a:off x="8412480" y="1554480"/>
            <a:ext cx="3200400" cy="2103120"/>
          </a:xfrm>
          <a:prstGeom prst="roundRect">
            <a:avLst>
              <a:gd name="adj" fmla="val 3478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41080" y="1737360"/>
            <a:ext cx="1554480" cy="274320"/>
          </a:xfrm>
          <a:prstGeom prst="roundRect">
            <a:avLst>
              <a:gd name="adj" fmla="val 16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수정 문제 가설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1488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구멍의 진짜 손실은 지원 면적 기준 미달과, 배당을 설명하지 못하는 데서 올 것이다</a:t>
            </a:r>
            <a:endParaRPr lang="en-US" sz="1600" dirty="0"/>
          </a:p>
        </p:txBody>
      </p:sp>
      <p:sp>
        <p:nvSpPr>
          <p:cNvPr id="18" name="지표 변경 배경"/>
          <p:cNvSpPr/>
          <p:nvPr/>
        </p:nvSpPr>
        <p:spPr>
          <a:xfrm>
            <a:off x="548640" y="3931920"/>
            <a:ext cx="11064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목표 지표도 바꿨다: 총 순수익 → 평당 배당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434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땅과 배당받을 사람이 함께 빠지기 때문에, 조합원이 실제로 느끼는 변화는 훨씬 작다.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총 순수익</a:t>
            </a:r>
            <a:endParaRPr lang="en-US" sz="1300" dirty="0"/>
          </a:p>
        </p:txBody>
      </p:sp>
      <p:sp>
        <p:nvSpPr>
          <p:cNvPr id="22" name="감소 막대 총 순수익"/>
          <p:cNvSpPr/>
          <p:nvPr/>
        </p:nvSpPr>
        <p:spPr>
          <a:xfrm>
            <a:off x="8321040" y="4160520"/>
            <a:ext cx="2377440" cy="3657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744200" y="41788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−6.2%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846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남은 조합원 평당 배당</a:t>
            </a:r>
            <a:endParaRPr lang="en-US" sz="1300" dirty="0"/>
          </a:p>
        </p:txBody>
      </p:sp>
      <p:sp>
        <p:nvSpPr>
          <p:cNvPr id="25" name="감소 막대 남은 조합원 평당 배당"/>
          <p:cNvSpPr/>
          <p:nvPr/>
        </p:nvSpPr>
        <p:spPr>
          <a:xfrm>
            <a:off x="8321040" y="4800600"/>
            <a:ext cx="345112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11872" y="48188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−0.9%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판정: 기각 (Guess Fail) → 새로운 가설 정의 · 바뀐 BMC 요소: ❶ 가치제안.  근거는 가상 들녘(48ha, 30농가) 시뮬레이션이므로 인터뷰로 다시 확인한다.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인터뷰 질문지 · CPF 가설 (Customer Problem Fit)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의견이 아니라, 지난 거절 때 실제로 한 일을 묻는다</a:t>
            </a:r>
            <a:endParaRPr lang="en-US" sz="2800" dirty="0"/>
          </a:p>
        </p:txBody>
      </p:sp>
      <p:sp>
        <p:nvSpPr>
          <p:cNvPr id="4" name="고객 가설 카드"/>
          <p:cNvSpPr/>
          <p:nvPr/>
        </p:nvSpPr>
        <p:spPr>
          <a:xfrm>
            <a:off x="548640" y="1508760"/>
            <a:ext cx="54406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고객 가설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공동영농을 추진하는 법인 사무장은 최근 1년 안에 참여 거절 때문에 단지를 다시 설계한 경험이 있을 것이다</a:t>
            </a:r>
            <a:endParaRPr lang="en-US" sz="1300" dirty="0"/>
          </a:p>
        </p:txBody>
      </p:sp>
      <p:sp>
        <p:nvSpPr>
          <p:cNvPr id="6" name="문제 가설 카드"/>
          <p:cNvSpPr/>
          <p:nvPr/>
        </p:nvSpPr>
        <p:spPr>
          <a:xfrm>
            <a:off x="6172200" y="1508760"/>
            <a:ext cx="54406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55080" y="1600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문제 가설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그때 기준 재확인과 대체 땅 찾기에 2주 이상 걸렸고, 남은 농가에게 배당 변화를 설명하지 못했을 것이다</a:t>
            </a:r>
            <a:endParaRPr lang="en-US" sz="1300" dirty="0"/>
          </a:p>
        </p:txBody>
      </p:sp>
      <p:graphicFrame>
        <p:nvGraphicFramePr>
          <p:cNvPr id="13" name="핵심질문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70408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고객 원형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핵심문제가설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핵심질문 (경험 · 개방형)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법인 사무장 · 최종 사용자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P1 · P2</a:t>
                      </a:r>
                      <a:endParaRPr lang="en-US" sz="13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마지막으로 농가가 참여를 거절했을 때 무엇부터 하셨나요? 대체 땅을 정하기까지 며칠이 걸렸나요?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법인 대표 · 의사결정자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P3 · P4</a:t>
                      </a:r>
                      <a:endParaRPr lang="en-US" sz="13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거절 뒤 남은 농가에게 배당을 어떻게 설명하셨나요? 그때 가장 곤란했던 질문은 무엇이었나요?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공동영농 법인 · 구매자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대체재 지출</a:t>
                      </a:r>
                      <a:endParaRPr lang="en-US" sz="13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지난해 사업계획이나 필지 정리를 어디에 맡기셨고, 비용은 얼마였나요?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시·군 담당 · 인플루언서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Freesentation 5 Medium" pitchFamily="34" charset="0"/>
                          <a:ea typeface="Freesentation 5 Medium" pitchFamily="34" charset="-122"/>
                          <a:cs typeface="Freesentation 5 Medium" pitchFamily="34" charset="-120"/>
                        </a:rPr>
                        <a:t>기준 미달</a:t>
                      </a:r>
                      <a:endParaRPr lang="en-US" sz="1300" dirty="0">
                        <a:latin typeface="Freesentation 5 Medium" charset="0"/>
                        <a:ea typeface="Freesentation 5 Medium" charset="0"/>
                        <a:cs typeface="Freesentation 5 Medium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최근 신청 단지 가운데 면적·농가 수 요건 때문에 보완을 요청한 곳이 몇 곳이었나요?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질문 순서 1"/>
          <p:cNvSpPr/>
          <p:nvPr/>
        </p:nvSpPr>
        <p:spPr>
          <a:xfrm>
            <a:off x="548640" y="5623560"/>
            <a:ext cx="2377440" cy="384048"/>
          </a:xfrm>
          <a:prstGeom prst="roundRect">
            <a:avLst>
              <a:gd name="adj" fmla="val 119048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① 문제 탐색: 마지막 경험</a:t>
            </a:r>
            <a:endParaRPr lang="en-US" sz="1200" dirty="0"/>
          </a:p>
        </p:txBody>
      </p:sp>
      <p:sp>
        <p:nvSpPr>
          <p:cNvPr id="10" name="질문 순서 2"/>
          <p:cNvSpPr/>
          <p:nvPr/>
        </p:nvSpPr>
        <p:spPr>
          <a:xfrm>
            <a:off x="3063240" y="5623560"/>
            <a:ext cx="2377440" cy="384048"/>
          </a:xfrm>
          <a:prstGeom prst="roundRect">
            <a:avLst>
              <a:gd name="adj" fmla="val 119048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② 문제 강도: 빈도 · 시간 · 비용</a:t>
            </a:r>
            <a:endParaRPr lang="en-US" sz="1200" dirty="0"/>
          </a:p>
        </p:txBody>
      </p:sp>
      <p:sp>
        <p:nvSpPr>
          <p:cNvPr id="11" name="질문 순서 3"/>
          <p:cNvSpPr/>
          <p:nvPr/>
        </p:nvSpPr>
        <p:spPr>
          <a:xfrm>
            <a:off x="5577840" y="5623560"/>
            <a:ext cx="2377440" cy="384048"/>
          </a:xfrm>
          <a:prstGeom prst="roundRect">
            <a:avLst>
              <a:gd name="adj" fmla="val 119048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③ 기존 대안: 무엇을 왜 쓰나</a:t>
            </a:r>
            <a:endParaRPr lang="en-US" sz="1200" dirty="0"/>
          </a:p>
        </p:txBody>
      </p:sp>
      <p:sp>
        <p:nvSpPr>
          <p:cNvPr id="12" name="금지 질문"/>
          <p:cNvSpPr txBox="1"/>
          <p:nvPr/>
        </p:nvSpPr>
        <p:spPr>
          <a:xfrm>
            <a:off x="8183880" y="55321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금지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"이 서비스 쓰시겠어요?"  "얼마 내실 건가요?"  — 미래형 질문은 가짜 데이터를 만든다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인사이트 분석 · 사실 → 패턴 → 인사이트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인터뷰 결과로 가설을 적용하거나 기각한다</a:t>
            </a:r>
            <a:endParaRPr lang="en-US" sz="2800" dirty="0"/>
          </a:p>
        </p:txBody>
      </p:sp>
      <p:graphicFrame>
        <p:nvGraphicFramePr>
          <p:cNvPr id="14" name="가설 판정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6809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971800"/>
                <a:gridCol w="1325880"/>
                <a:gridCol w="17830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가설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확인할 사실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결과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판정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고객 가설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최근 1년 안에 거절로 단지를 다시 설계한 적이 있나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(  )명 중 (  )명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적용 · 기각 · 새 가설</a:t>
                      </a:r>
                      <a:endParaRPr lang="en-US" sz="12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P1 기준 재확인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재설계에 걸린 날짜, 기준을 다시 확인한 방법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(  )명 중 (  )명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적용 · 기각 · 새 가설</a:t>
                      </a:r>
                      <a:endParaRPr lang="en-US" sz="12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P2 대체 필지 답사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후보 1곳 확인에 쓴 시간, 답사 횟수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(  )명 중 (  )명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적용 · 기각 · 새 가설</a:t>
                      </a:r>
                      <a:endParaRPr lang="en-US" sz="12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P3 배당 설명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재설득이 필요했던 농가 수, 받은 질문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(  )명 중 (  )명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적용 · 기각 · 새 가설</a:t>
                      </a:r>
                      <a:endParaRPr lang="en-US" sz="12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6 SemiBold" pitchFamily="34" charset="0"/>
                          <a:ea typeface="Freesentation 6 SemiBold" pitchFamily="34" charset="-122"/>
                          <a:cs typeface="Freesentation 6 SemiBold" pitchFamily="34" charset="-120"/>
                        </a:rPr>
                        <a:t>P4 흉년 위험</a:t>
                      </a:r>
                      <a:endParaRPr lang="en-US" sz="1300" dirty="0">
                        <a:latin typeface="Freesentation 6 SemiBold" charset="0"/>
                        <a:ea typeface="Freesentation 6 SemiBold" charset="0"/>
                        <a:cs typeface="Freesentation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고정 임차료 요구 경험, 흉년 손실 처리 방식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(  )명 중 (  )명</a:t>
                      </a:r>
                      <a:endParaRPr lang="en-US" sz="13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  <a:latin typeface="Freesentation 4 Regular" pitchFamily="34" charset="0"/>
                          <a:ea typeface="Freesentation 4 Regular" pitchFamily="34" charset="-122"/>
                          <a:cs typeface="Freesentation 4 Regular" pitchFamily="34" charset="-120"/>
                        </a:rPr>
                        <a:t>적용 · 기각 · 새 가설</a:t>
                      </a:r>
                      <a:endParaRPr lang="en-US" sz="1200" dirty="0">
                        <a:latin typeface="Freesentation 4 Regular" charset="0"/>
                        <a:ea typeface="Freesentation 4 Regular" charset="0"/>
                        <a:cs typeface="Freesentation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아하 모먼트 카드"/>
          <p:cNvSpPr/>
          <p:nvPr/>
        </p:nvSpPr>
        <p:spPr>
          <a:xfrm>
            <a:off x="8458200" y="1508760"/>
            <a:ext cx="3154680" cy="2103120"/>
          </a:xfrm>
          <a:prstGeom prst="roundRect">
            <a:avLst>
              <a:gd name="adj" fmla="val 3478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아하! 모먼트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20116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인터뷰에서 처음 알게 되어 새 가설로 만들 만한 것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( 인터뷰 후 기입 )</a:t>
            </a:r>
            <a:endParaRPr lang="en-US" sz="1300" dirty="0"/>
          </a:p>
        </p:txBody>
      </p:sp>
      <p:sp>
        <p:nvSpPr>
          <p:cNvPr id="8" name="판정 규칙 1"/>
          <p:cNvSpPr/>
          <p:nvPr/>
        </p:nvSpPr>
        <p:spPr>
          <a:xfrm>
            <a:off x="8458200" y="3794760"/>
            <a:ext cx="3154680" cy="530352"/>
          </a:xfrm>
          <a:prstGeom prst="roundRect">
            <a:avLst>
              <a:gd name="adj" fmla="val 13793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95360" y="379476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패턴이 반복된다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  →  가설 적용 → MVP 테스트</a:t>
            </a:r>
            <a:endParaRPr lang="en-US" sz="1200" dirty="0"/>
          </a:p>
        </p:txBody>
      </p:sp>
      <p:sp>
        <p:nvSpPr>
          <p:cNvPr id="10" name="판정 규칙 2"/>
          <p:cNvSpPr/>
          <p:nvPr/>
        </p:nvSpPr>
        <p:spPr>
          <a:xfrm>
            <a:off x="8458200" y="4416552"/>
            <a:ext cx="3154680" cy="530352"/>
          </a:xfrm>
          <a:prstGeom prst="roundRect">
            <a:avLst>
              <a:gd name="adj" fmla="val 13793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95360" y="44165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패턴이 없다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  →  가설 기각 → 새 가설 정의</a:t>
            </a:r>
            <a:endParaRPr lang="en-US" sz="1200" dirty="0"/>
          </a:p>
        </p:txBody>
      </p:sp>
      <p:sp>
        <p:nvSpPr>
          <p:cNvPr id="12" name="판정 규칙 3"/>
          <p:cNvSpPr/>
          <p:nvPr/>
        </p:nvSpPr>
        <p:spPr>
          <a:xfrm>
            <a:off x="8458200" y="5038344"/>
            <a:ext cx="3154680" cy="530352"/>
          </a:xfrm>
          <a:prstGeom prst="roundRect">
            <a:avLst>
              <a:gd name="adj" fmla="val 13793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95360" y="503834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새 사실이 나왔다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  →  새로운 가설 정의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같은 질문을 모든 대상에게 했는지, 가장 자주 나온 문장이 무엇인지, 이미 돈을 쓰고 있는 문제가 무엇인지 함께 기록한다.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MVP · 프리토타입 (기능 구현 없이 화면으로 검증)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거절 필지를 누르면 대안과 배당이 나온다</a:t>
            </a:r>
            <a:endParaRPr lang="en-US" sz="2800" dirty="0"/>
          </a:p>
        </p:txBody>
      </p:sp>
      <p:pic>
        <p:nvPicPr>
          <p:cNvPr id="4" name="MVP 흐름도" descr="빈 필드 대응 MVP 흐름도: 목표 입력, 전원 설득 기준선, 거절 농가 클릭, 자동 판정, 세 가지 상황과 공통 마무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543596" cy="4800600"/>
          </a:xfrm>
          <a:prstGeom prst="rect">
            <a:avLst/>
          </a:prstGeom>
        </p:spPr>
      </p:pic>
      <p:sp>
        <p:nvSpPr>
          <p:cNvPr id="5" name="MVP 카드 1"/>
          <p:cNvSpPr/>
          <p:nvPr/>
        </p:nvSpPr>
        <p:spPr>
          <a:xfrm>
            <a:off x="6263640" y="1463040"/>
            <a:ext cx="5349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92240" y="1581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MVP 1 · 대체 후보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95560" y="1581912"/>
            <a:ext cx="1234440" cy="274320"/>
          </a:xfrm>
          <a:prstGeom prst="roundRect">
            <a:avLst>
              <a:gd name="adj" fmla="val 16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P1 · P2 · G1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93852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지원 기준을 넘기면서 평당 배당이 가장 높은 대안을 최적 1 + 예비 2로 추천</a:t>
            </a:r>
            <a:endParaRPr lang="en-US" sz="1300" dirty="0"/>
          </a:p>
        </p:txBody>
      </p:sp>
      <p:sp>
        <p:nvSpPr>
          <p:cNvPr id="9" name="MVP 카드 2"/>
          <p:cNvSpPr/>
          <p:nvPr/>
        </p:nvSpPr>
        <p:spPr>
          <a:xfrm>
            <a:off x="6263640" y="2560320"/>
            <a:ext cx="5349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92240" y="2679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MVP 2 · 기계비와 경로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195560" y="2679192"/>
            <a:ext cx="1234440" cy="274320"/>
          </a:xfrm>
          <a:prstGeom prst="roundRect">
            <a:avLst>
              <a:gd name="adj" fmla="val 16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P2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303580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대안마다 트랙터 최적 경로와 작업시간을 지도에 겹쳐 비교</a:t>
            </a:r>
            <a:endParaRPr lang="en-US" sz="1300" dirty="0"/>
          </a:p>
        </p:txBody>
      </p:sp>
      <p:sp>
        <p:nvSpPr>
          <p:cNvPr id="13" name="MVP 카드 3"/>
          <p:cNvSpPr/>
          <p:nvPr/>
        </p:nvSpPr>
        <p:spPr>
          <a:xfrm>
            <a:off x="6263640" y="3657600"/>
            <a:ext cx="5349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92240" y="3776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MVP 3 · 배당 범위와 흉년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195560" y="3776472"/>
            <a:ext cx="1234440" cy="274320"/>
          </a:xfrm>
          <a:prstGeom prst="roundRect">
            <a:avLst>
              <a:gd name="adj" fmla="val 16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P3 · P4 · G2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413308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평당 배당을 범위로, 작황 −20%·−30%일 때 지급 방식별 금액 비교</a:t>
            </a:r>
            <a:endParaRPr lang="en-US" sz="1300" dirty="0"/>
          </a:p>
        </p:txBody>
      </p:sp>
      <p:sp>
        <p:nvSpPr>
          <p:cNvPr id="17" name="검증 계획 카드"/>
          <p:cNvSpPr/>
          <p:nvPr/>
        </p:nvSpPr>
        <p:spPr>
          <a:xfrm>
            <a:off x="6263640" y="4846320"/>
            <a:ext cx="5349240" cy="1417320"/>
          </a:xfrm>
          <a:prstGeom prst="roundRect">
            <a:avLst>
              <a:gd name="adj" fmla="val 5161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92240" y="493776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검증할 것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사무장의 지난 거절 사례를 화면에 넣어, 대안을 고르는 데 걸리는 시간을 잰다.
</a:t>
            </a:r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프로토타입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포항 흥해 들녘 실측 지도(2,666필지, 489ha)를 연동한 시뮬레이터가 이미 돌아간다.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MVP 화면 · 거절로 지원 기준이 미달된 상황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거절 2건 → 면적 19.6ha로 미달 → '교환 + 필지 B 편입'이 최적</a:t>
            </a:r>
            <a:endParaRPr lang="en-US" sz="2800" dirty="0"/>
          </a:p>
        </p:txBody>
      </p:sp>
      <p:pic>
        <p:nvPicPr>
          <p:cNvPr id="4" name="MVP 화면" descr="빈 필드 시뮬레이터 화면: 왼쪽 입력과 기준 판정, 가운데 필지 지도와 트랙터 경로, 오른쪽 대안 비교표와 배당 증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2143" y="1417320"/>
            <a:ext cx="8587409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화면 숫자는 가상 들녘 기반 예시다. 왼쪽: 목표와 기준 판정  ·  가운데: 거절 필지와 대체 후보, 트랙터 경로  ·  오른쪽: 대안 순위, 평당 배당 범위, 설득 카드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비즈니스 모델 캔버스 · 가설 (~할 것이다)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가치제안을 기준점으로 아홉 블록을 가설로 적었다</a:t>
            </a:r>
            <a:endParaRPr lang="en-US" sz="2800" dirty="0"/>
          </a:p>
        </p:txBody>
      </p:sp>
      <p:sp>
        <p:nvSpPr>
          <p:cNvPr id="4" name="BMC 핵심 파트너"/>
          <p:cNvSpPr/>
          <p:nvPr/>
        </p:nvSpPr>
        <p:spPr>
          <a:xfrm>
            <a:off x="548640" y="1417320"/>
            <a:ext cx="2157984" cy="3236976"/>
          </a:xfrm>
          <a:prstGeom prst="roundRect">
            <a:avLst>
              <a:gd name="adj" fmla="val 1695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5087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❽ 핵심 파트너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892808" y="1527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가설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28800"/>
            <a:ext cx="19385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시·군 농정부서, 농어촌공사 농지은행, 공공 데이터 기관(팜맵·흙토람·브이월드)과 협력해 들녘 자료를 받을 것이다</a:t>
            </a:r>
            <a:endParaRPr lang="en-US" sz="1150" dirty="0"/>
          </a:p>
        </p:txBody>
      </p:sp>
      <p:sp>
        <p:nvSpPr>
          <p:cNvPr id="8" name="BMC 핵심 활동"/>
          <p:cNvSpPr/>
          <p:nvPr/>
        </p:nvSpPr>
        <p:spPr>
          <a:xfrm>
            <a:off x="2761488" y="1417320"/>
            <a:ext cx="2157984" cy="1591056"/>
          </a:xfrm>
          <a:prstGeom prst="roundRect">
            <a:avLst>
              <a:gd name="adj" fmla="val 2299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71216" y="15087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❻ 핵심 활동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105656" y="1527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가설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871216" y="1828800"/>
            <a:ext cx="19385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거절 재계산 엔진 운영과 들녘별 자료 보정을 할 것이다.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핵심지표: 재설계 소요일, 기준 충족 단지 수</a:t>
            </a:r>
            <a:endParaRPr lang="en-US" sz="1150" dirty="0"/>
          </a:p>
        </p:txBody>
      </p:sp>
      <p:sp>
        <p:nvSpPr>
          <p:cNvPr id="12" name="BMC 핵심 자원"/>
          <p:cNvSpPr/>
          <p:nvPr/>
        </p:nvSpPr>
        <p:spPr>
          <a:xfrm>
            <a:off x="2761488" y="3063240"/>
            <a:ext cx="2157984" cy="1591056"/>
          </a:xfrm>
          <a:prstGeom prst="roundRect">
            <a:avLst>
              <a:gd name="adj" fmla="val 229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71216" y="315468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❼ 핵심 자원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05656" y="31729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2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확인됨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871216" y="3474720"/>
            <a:ext cx="19385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필지 인접 그래프·비용 모델, 교환·배분 최적화, 공공 지도 연동 프로토타입</a:t>
            </a:r>
            <a:endParaRPr lang="en-US" sz="1150" dirty="0"/>
          </a:p>
        </p:txBody>
      </p:sp>
      <p:sp>
        <p:nvSpPr>
          <p:cNvPr id="16" name="BMC 가치제안"/>
          <p:cNvSpPr/>
          <p:nvPr/>
        </p:nvSpPr>
        <p:spPr>
          <a:xfrm>
            <a:off x="4974336" y="1417320"/>
            <a:ext cx="2157984" cy="3236976"/>
          </a:xfrm>
          <a:prstGeom prst="roundRect">
            <a:avLst>
              <a:gd name="adj" fmla="val 1695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84064" y="15087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❶ 가치제안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18504" y="1527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가설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084064" y="1828800"/>
            <a:ext cx="19385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거절 필지가 지원 자격과 평당 배당에 주는 영향을 1초 안에 보여 줘, 대안 결정 기간을 2주에서 1일로 줄일 것이다</a:t>
            </a:r>
            <a:endParaRPr lang="en-US" sz="1150" dirty="0"/>
          </a:p>
        </p:txBody>
      </p:sp>
      <p:sp>
        <p:nvSpPr>
          <p:cNvPr id="20" name="BMC 고객 관계"/>
          <p:cNvSpPr/>
          <p:nvPr/>
        </p:nvSpPr>
        <p:spPr>
          <a:xfrm>
            <a:off x="7187184" y="1417320"/>
            <a:ext cx="2157984" cy="1591056"/>
          </a:xfrm>
          <a:prstGeom prst="roundRect">
            <a:avLst>
              <a:gd name="adj" fmla="val 2299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96912" y="15087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❹ 고객 관계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31352" y="1527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가설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296912" y="1828800"/>
            <a:ext cx="19385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설득 기간 현장 동행(Get) → 셀프 웹 도구(Keep) → 매년 자료 갱신과 다음 단지 확장(Grow)으로 이어 갈 것이다</a:t>
            </a:r>
            <a:endParaRPr lang="en-US" sz="1150" dirty="0"/>
          </a:p>
        </p:txBody>
      </p:sp>
      <p:sp>
        <p:nvSpPr>
          <p:cNvPr id="24" name="BMC 채널"/>
          <p:cNvSpPr/>
          <p:nvPr/>
        </p:nvSpPr>
        <p:spPr>
          <a:xfrm>
            <a:off x="7187184" y="3063240"/>
            <a:ext cx="2157984" cy="1591056"/>
          </a:xfrm>
          <a:prstGeom prst="roundRect">
            <a:avLst>
              <a:gd name="adj" fmla="val 2299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96912" y="315468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❸ 채널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531352" y="31729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가설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3474720"/>
            <a:ext cx="19385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시·군 공동영농 설명회와 농지은행 지사를 통해 첫 10개 법인을 만날 것이다</a:t>
            </a:r>
            <a:endParaRPr lang="en-US" sz="1150" dirty="0"/>
          </a:p>
        </p:txBody>
      </p:sp>
      <p:sp>
        <p:nvSpPr>
          <p:cNvPr id="28" name="BMC 고객군"/>
          <p:cNvSpPr/>
          <p:nvPr/>
        </p:nvSpPr>
        <p:spPr>
          <a:xfrm>
            <a:off x="9400032" y="1417320"/>
            <a:ext cx="2157984" cy="3236976"/>
          </a:xfrm>
          <a:prstGeom prst="roundRect">
            <a:avLst>
              <a:gd name="adj" fmla="val 1695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509760" y="15087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❷ 고객군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744200" y="1527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가설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509760" y="1828800"/>
            <a:ext cx="19385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1순위: 공동영농 추진 법인 사무장·대표 (B2B)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2순위: 시·군, 농지은행 (B2G)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3순위: 참여 검토 농가 (간접)</a:t>
            </a:r>
            <a:endParaRPr lang="en-US" sz="1150" dirty="0"/>
          </a:p>
        </p:txBody>
      </p:sp>
      <p:sp>
        <p:nvSpPr>
          <p:cNvPr id="32" name="BMC 비용 구조"/>
          <p:cNvSpPr/>
          <p:nvPr/>
        </p:nvSpPr>
        <p:spPr>
          <a:xfrm>
            <a:off x="548640" y="4709160"/>
            <a:ext cx="5477256" cy="1271016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8368" y="48006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❾ 비용 구조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212080" y="48188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가설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512064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고정: 개발·서버·데이터 정비 / 변동: 들녘별 현장 보정, 영업·교육에 쓸 것이다</a:t>
            </a:r>
            <a:endParaRPr lang="en-US" sz="1150" dirty="0"/>
          </a:p>
        </p:txBody>
      </p:sp>
      <p:sp>
        <p:nvSpPr>
          <p:cNvPr id="36" name="BMC 수익 흐름"/>
          <p:cNvSpPr/>
          <p:nvPr/>
        </p:nvSpPr>
        <p:spPr>
          <a:xfrm>
            <a:off x="6080760" y="4709160"/>
            <a:ext cx="5477256" cy="1271016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190488" y="48006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❺ 수익 흐름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744200" y="48188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가설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190488" y="512064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법인 구독 ha당 연 2만 원(50ha 연 100만 원): 거절 1건(1.7ha)을 메워 되찾는 생산비 절감 연 약 300만 원의 3분의 1.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시범사업 교육·컨설팅 예산으로 단지당 연 1,000만 원 (근거: 국가데이터처 2025년산 논벼 생산비조사, 컨설팅 개소당 3천만 원 사례)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다음 단계 · GO / NO-GO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인터뷰 20건으로 CPF부터 확인하고, 결과로 계속 갈지 정한다</a:t>
            </a:r>
            <a:endParaRPr lang="en-US" sz="2800" dirty="0"/>
          </a:p>
        </p:txBody>
      </p:sp>
      <p:sp>
        <p:nvSpPr>
          <p:cNvPr id="4" name="다음 단계 1"/>
          <p:cNvSpPr/>
          <p:nvPr/>
        </p:nvSpPr>
        <p:spPr>
          <a:xfrm>
            <a:off x="548640" y="155448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" name="단계 번호 1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CPF 인터뷰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경북 공동영농 법인 사무장·대표 20명부터. 목표는 고객군당 100건</a:t>
            </a:r>
            <a:endParaRPr lang="en-US" sz="1400" dirty="0"/>
          </a:p>
        </p:txBody>
      </p:sp>
      <p:sp>
        <p:nvSpPr>
          <p:cNvPr id="8" name="다음 단계 2"/>
          <p:cNvSpPr/>
          <p:nvPr/>
        </p:nvSpPr>
        <p:spPr>
          <a:xfrm>
            <a:off x="4270248" y="155448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9" name="단계 번호 2"/>
          <p:cNvSpPr/>
          <p:nvPr/>
        </p:nvSpPr>
        <p:spPr>
          <a:xfrm>
            <a:off x="4498848" y="17373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093208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프리토타입 테스트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3774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지난 거절 사례를 화면에 넣어 대안 선택 시간을 잰다</a:t>
            </a:r>
            <a:endParaRPr lang="en-US" sz="1400" dirty="0"/>
          </a:p>
        </p:txBody>
      </p:sp>
      <p:sp>
        <p:nvSpPr>
          <p:cNvPr id="12" name="다음 단계 3"/>
          <p:cNvSpPr/>
          <p:nvPr/>
        </p:nvSpPr>
        <p:spPr>
          <a:xfrm>
            <a:off x="7991856" y="155448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3" name="단계 번호 3"/>
          <p:cNvSpPr/>
          <p:nvPr/>
        </p:nvSpPr>
        <p:spPr>
          <a:xfrm>
            <a:off x="8220456" y="17373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814816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프로토타입 고도화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0456" y="23774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실제 들녘 1곳에 조수입·경영비 자료를 넣어 배당 범위와 흉년 금액을 계산한다</a:t>
            </a:r>
            <a:endParaRPr lang="en-US" sz="1400" dirty="0"/>
          </a:p>
        </p:txBody>
      </p:sp>
      <p:sp>
        <p:nvSpPr>
          <p:cNvPr id="16" name="GO 기준"/>
          <p:cNvSpPr/>
          <p:nvPr/>
        </p:nvSpPr>
        <p:spPr>
          <a:xfrm>
            <a:off x="548640" y="3749040"/>
            <a:ext cx="5440680" cy="2286000"/>
          </a:xfrm>
          <a:prstGeom prst="roundRect">
            <a:avLst>
              <a:gd name="adj" fmla="val 32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Freesentation 8 ExtraBold" pitchFamily="34" charset="0"/>
                <a:ea typeface="Freesentation 8 ExtraBold" pitchFamily="34" charset="-122"/>
                <a:cs typeface="Freesentation 8 ExtraBold" pitchFamily="34" charset="-120"/>
              </a:rPr>
              <a:t>GO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4348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사무장 20명 중 12명(60%) 이상이 최근 1년 안에 거절로 단지를 다시 설계했고, 그 과정에 1주 이상 걸렸다고 답한다</a:t>
            </a:r>
            <a:endParaRPr lang="en-US" sz="1500" dirty="0"/>
          </a:p>
        </p:txBody>
      </p:sp>
      <p:sp>
        <p:nvSpPr>
          <p:cNvPr id="19" name="피벗 기준"/>
          <p:cNvSpPr/>
          <p:nvPr/>
        </p:nvSpPr>
        <p:spPr>
          <a:xfrm>
            <a:off x="6172200" y="3749040"/>
            <a:ext cx="5440680" cy="2286000"/>
          </a:xfrm>
          <a:prstGeom prst="roundRect">
            <a:avLst>
              <a:gd name="adj" fmla="val 3200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3"/>
                </a:solidFill>
                <a:latin typeface="Freesentation 8 ExtraBold" pitchFamily="34" charset="0"/>
                <a:ea typeface="Freesentation 8 ExtraBold" pitchFamily="34" charset="-122"/>
                <a:cs typeface="Freesentation 8 ExtraBold" pitchFamily="34" charset="-120"/>
              </a:rPr>
              <a:t>NO-GO · 피벗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4348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Freesentation 5 Medium" pitchFamily="34" charset="0"/>
                <a:ea typeface="Freesentation 5 Medium" pitchFamily="34" charset="-122"/>
                <a:cs typeface="Freesentation 5 Medium" pitchFamily="34" charset="-120"/>
              </a:rPr>
              <a:t>거절이 드물거나 재설계를 법인이 아닌 지자체·농지은행이 맡는다면, 고객군을 B2G(시·군, 농지은행)로 바꾼다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GO / NO-GO 기준은 팀이 제안하는 초안이다. 인터뷰를 시작하기 전에 팀에서 확정한다.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Freesentation 6 SemiBold" pitchFamily="34" charset="0"/>
                <a:ea typeface="Freesentation 6 SemiBold" pitchFamily="34" charset="-122"/>
                <a:cs typeface="Freesentation 6 SemiBold" pitchFamily="34" charset="-120"/>
              </a:rPr>
              <a:t>핵심 인사이트 · 소감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지금까지 배운 것</a:t>
            </a:r>
            <a:endParaRPr lang="en-US" sz="2800" dirty="0"/>
          </a:p>
        </p:txBody>
      </p:sp>
      <p:sp>
        <p:nvSpPr>
          <p:cNvPr id="4" name="인사이트 1"/>
          <p:cNvSpPr/>
          <p:nvPr/>
        </p:nvSpPr>
        <p:spPr>
          <a:xfrm>
            <a:off x="548640" y="1508760"/>
            <a:ext cx="54406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인사이트 번호 1"/>
          <p:cNvSpPr/>
          <p:nvPr/>
        </p:nvSpPr>
        <p:spPr>
          <a:xfrm>
            <a:off x="749808" y="17373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구멍의 진짜 비용은 경로가 아니라 기준 미달이다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03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1명 거절 시 순이익 감소의 94%는 빠진 땅 몫, 경로·기계비는 6%</a:t>
            </a:r>
            <a:endParaRPr lang="en-US" sz="1300" dirty="0"/>
          </a:p>
        </p:txBody>
      </p:sp>
      <p:sp>
        <p:nvSpPr>
          <p:cNvPr id="8" name="인사이트 2"/>
          <p:cNvSpPr/>
          <p:nvPr/>
        </p:nvSpPr>
        <p:spPr>
          <a:xfrm>
            <a:off x="6126480" y="1508760"/>
            <a:ext cx="54406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9" name="인사이트 번호 2"/>
          <p:cNvSpPr/>
          <p:nvPr/>
        </p:nvSpPr>
        <p:spPr>
          <a:xfrm>
            <a:off x="6327648" y="17373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목표는 총 순수익보다 평당 배당이다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103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총 순수익이 6% 줄어도 남은 조합원 평당 배당은 약 1%만 준다</a:t>
            </a:r>
            <a:endParaRPr lang="en-US" sz="1300" dirty="0"/>
          </a:p>
        </p:txBody>
      </p:sp>
      <p:sp>
        <p:nvSpPr>
          <p:cNvPr id="12" name="인사이트 3"/>
          <p:cNvSpPr/>
          <p:nvPr/>
        </p:nvSpPr>
        <p:spPr>
          <a:xfrm>
            <a:off x="548640" y="2834640"/>
            <a:ext cx="54406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3" name="인사이트 번호 3"/>
          <p:cNvSpPr/>
          <p:nvPr/>
        </p:nvSpPr>
        <p:spPr>
          <a:xfrm>
            <a:off x="749808" y="30632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017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배당은 범위로, 흉년은 따로 보여 줘야 설득된다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흉년 손실을 고정 임차료형은 법인이, 배당형은 조합원이 진다</a:t>
            </a:r>
            <a:endParaRPr lang="en-US" sz="1300" dirty="0"/>
          </a:p>
        </p:txBody>
      </p:sp>
      <p:sp>
        <p:nvSpPr>
          <p:cNvPr id="16" name="인사이트 4"/>
          <p:cNvSpPr/>
          <p:nvPr/>
        </p:nvSpPr>
        <p:spPr>
          <a:xfrm>
            <a:off x="6126480" y="2834640"/>
            <a:ext cx="54406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7" name="인사이트 번호 4"/>
          <p:cNvSpPr/>
          <p:nvPr/>
        </p:nvSpPr>
        <p:spPr>
          <a:xfrm>
            <a:off x="6327648" y="30632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017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경작권 교환은 설득 부담이 작지만 면적은 못 늘린다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기준 미달일 때는 땅 추가와 묶어야 한다</a:t>
            </a:r>
            <a:endParaRPr lang="en-US" sz="1300" dirty="0"/>
          </a:p>
        </p:txBody>
      </p:sp>
      <p:sp>
        <p:nvSpPr>
          <p:cNvPr id="20" name="소감 칸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Freesentation 7 Bold" pitchFamily="34" charset="0"/>
                <a:ea typeface="Freesentation 7 Bold" pitchFamily="34" charset="-122"/>
                <a:cs typeface="Freesentation 7 Bold" pitchFamily="34" charset="-120"/>
              </a:rPr>
              <a:t>본 과정에 대한 소감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8463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Freesentation 4 Regular" pitchFamily="34" charset="0"/>
                <a:ea typeface="Freesentation 4 Regular" pitchFamily="34" charset="-122"/>
                <a:cs typeface="Freesentation 4 Regular" pitchFamily="34" charset="-120"/>
              </a:rPr>
              <a:t>( 팀원 소감 기입 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pty Field">
  <a:themeElements>
    <a:clrScheme name="Empty Field">
      <a:dk1>
        <a:srgbClr val="1E2430"/>
      </a:dk1>
      <a:lt1>
        <a:srgbClr val="FFFFFF"/>
      </a:lt1>
      <a:dk2>
        <a:srgbClr val="13204A"/>
      </a:dk2>
      <a:lt2>
        <a:srgbClr val="F2F4F8"/>
      </a:lt2>
      <a:accent1>
        <a:srgbClr val="2E6FE0"/>
      </a:accent1>
      <a:accent2>
        <a:srgbClr val="3F8F5A"/>
      </a:accent2>
      <a:accent3>
        <a:srgbClr val="C4492D"/>
      </a:accent3>
      <a:accent4>
        <a:srgbClr val="D9962B"/>
      </a:accent4>
      <a:accent5>
        <a:srgbClr val="6B7A99"/>
      </a:accent5>
      <a:accent6>
        <a:srgbClr val="8A5CC2"/>
      </a:accent6>
      <a:hlink>
        <a:srgbClr val="2E6FE0"/>
      </a:hlink>
      <a:folHlink>
        <a:srgbClr val="6B7A99"/>
      </a:folHlink>
    </a:clrScheme>
    <a:fontScheme name="Empty Field">
      <a:majorFont>
        <a:latin typeface="Freesentation 7 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reesentation 4 Regula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빈 필드 시뮬레이터 최종발표</dc:title>
  <dc:subject>PptxGenJS Presentation</dc:subject>
  <dc:creator>PptxGenJS</dc:creator>
  <cp:lastModifiedBy>PptxGenJS</cp:lastModifiedBy>
  <cp:revision>1</cp:revision>
  <dcterms:created xsi:type="dcterms:W3CDTF">2026-10-31T18:36:45Z</dcterms:created>
  <dcterms:modified xsi:type="dcterms:W3CDTF">2026-10-31T18:36:45Z</dcterms:modified>
</cp:coreProperties>
</file>